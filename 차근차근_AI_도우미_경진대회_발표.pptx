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46"/>
    <p:restoredTop sz="94691"/>
  </p:normalViewPr>
  <p:slideViewPr>
    <p:cSldViewPr snapToGrid="0">
      <p:cViewPr varScale="1">
        <p:scale>
          <a:sx n="213" d="100"/>
          <a:sy n="213" d="100"/>
        </p:scale>
        <p:origin x="10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C605DD9C-BF8E-4AD8-8E15-E01D970A5A2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E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ED5A3C0-789D-4A07-89BE-D9568657B4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7BE0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F89B6E8-94DE-45EB-AF6D-E03615D31B4B}"/>
              </a:ext>
            </a:extLst>
          </p:cNvPr>
          <p:cNvSpPr>
            <a:spLocks noGrp="1"/>
          </p:cNvSpPr>
          <p:nvPr/>
        </p:nvSpPr>
        <p:spPr>
          <a:xfrm>
            <a:off x="9810750" y="495300"/>
            <a:ext cx="1809750" cy="1809750"/>
          </a:xfrm>
          <a:prstGeom prst="rect">
            <a:avLst/>
          </a:prstGeom>
          <a:solidFill>
            <a:srgbClr val="E6FF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8A44CBF-DC45-41BC-BDDA-B3EB2E487FB8}"/>
              </a:ext>
            </a:extLst>
          </p:cNvPr>
          <p:cNvSpPr>
            <a:spLocks noGrp="1"/>
          </p:cNvSpPr>
          <p:nvPr/>
        </p:nvSpPr>
        <p:spPr>
          <a:xfrm>
            <a:off x="361950" y="5810250"/>
            <a:ext cx="1524000" cy="666750"/>
          </a:xfrm>
          <a:prstGeom prst="rect">
            <a:avLst/>
          </a:prstGeom>
          <a:solidFill>
            <a:srgbClr val="EAF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02BC5D-AC70-4B91-A896-06FD3B3DAB24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619250" cy="514350"/>
          </a:xfrm>
          <a:prstGeom prst="rect">
            <a:avLst/>
          </a:prstGeom>
          <a:solidFill>
            <a:srgbClr val="FFF3C4"/>
          </a:solidFill>
          <a:ln w="9525">
            <a:solidFill>
              <a:srgbClr val="F5C8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DBC33CF-2410-48EE-8FCE-C21684E7AF1D}"/>
              </a:ext>
            </a:extLst>
          </p:cNvPr>
          <p:cNvSpPr>
            <a:spLocks noGrp="1"/>
          </p:cNvSpPr>
          <p:nvPr/>
        </p:nvSpPr>
        <p:spPr>
          <a:xfrm>
            <a:off x="876300" y="933450"/>
            <a:ext cx="1238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AI Agent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9E73284-2620-434D-9440-EBA6800892F9}"/>
              </a:ext>
            </a:extLst>
          </p:cNvPr>
          <p:cNvSpPr>
            <a:spLocks noGrp="1"/>
          </p:cNvSpPr>
          <p:nvPr/>
        </p:nvSpPr>
        <p:spPr>
          <a:xfrm>
            <a:off x="666750" y="1581150"/>
            <a:ext cx="7239000" cy="1714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70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defRPr>
            </a:pPr>
            <a:r>
              <a:rPr sz="570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차근차근</a:t>
            </a:r>
          </a:p>
          <a:p>
            <a:pPr algn="l">
              <a:defRPr sz="570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defRPr>
            </a:pPr>
            <a:r>
              <a:rPr sz="570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AI 도우미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15B8EFB-FDFD-4041-99C2-A6DA1193DD51}"/>
              </a:ext>
            </a:extLst>
          </p:cNvPr>
          <p:cNvSpPr>
            <a:spLocks noGrp="1"/>
          </p:cNvSpPr>
          <p:nvPr/>
        </p:nvSpPr>
        <p:spPr>
          <a:xfrm>
            <a:off x="685800" y="3667125"/>
            <a:ext cx="6858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재난안전 영상을</a:t>
            </a:r>
          </a:p>
          <a:p>
            <a:pPr algn="l">
              <a:defRPr sz="2250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느린학습자가 이해할 수 있는</a:t>
            </a:r>
          </a:p>
          <a:p>
            <a:pPr algn="l">
              <a:defRPr sz="2250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장면별 연습 자료로 바꾸는 서비스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CB3CEAD-5ECA-4BF4-BD68-DEC3FB165395}"/>
              </a:ext>
            </a:extLst>
          </p:cNvPr>
          <p:cNvSpPr>
            <a:spLocks noGrp="1"/>
          </p:cNvSpPr>
          <p:nvPr/>
        </p:nvSpPr>
        <p:spPr>
          <a:xfrm>
            <a:off x="7905750" y="1638300"/>
            <a:ext cx="3143250" cy="3238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EB70F66-52C2-4E02-BC23-5C0C6DE61AD4}"/>
              </a:ext>
            </a:extLst>
          </p:cNvPr>
          <p:cNvSpPr>
            <a:spLocks noGrp="1"/>
          </p:cNvSpPr>
          <p:nvPr/>
        </p:nvSpPr>
        <p:spPr>
          <a:xfrm>
            <a:off x="8115300" y="1809750"/>
            <a:ext cx="2724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작동 흐름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86218FB-75DE-4A13-9DE0-D15A5FF12EDC}"/>
              </a:ext>
            </a:extLst>
          </p:cNvPr>
          <p:cNvSpPr>
            <a:spLocks noGrp="1"/>
          </p:cNvSpPr>
          <p:nvPr/>
        </p:nvSpPr>
        <p:spPr>
          <a:xfrm>
            <a:off x="8115300" y="2133600"/>
            <a:ext cx="27241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영상 링크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A9AF185-E65E-40D1-AC5A-BD9871C1DD24}"/>
              </a:ext>
            </a:extLst>
          </p:cNvPr>
          <p:cNvSpPr>
            <a:spLocks noGrp="1"/>
          </p:cNvSpPr>
          <p:nvPr/>
        </p:nvSpPr>
        <p:spPr>
          <a:xfrm>
            <a:off x="8115300" y="2743200"/>
            <a:ext cx="2724150" cy="1809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장면 분석</a:t>
            </a:r>
          </a:p>
          <a:p>
            <a:pPr algn="l">
              <a:defRPr sz="19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공식 근거 확인</a:t>
            </a:r>
          </a:p>
          <a:p>
            <a:pPr algn="l">
              <a:defRPr sz="19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쉬운말 변환</a:t>
            </a:r>
          </a:p>
          <a:p>
            <a:pPr algn="l">
              <a:defRPr sz="19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품질 검사</a:t>
            </a:r>
          </a:p>
          <a:p>
            <a:pPr algn="l">
              <a:defRPr sz="19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학습 화면 생성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4A2071E-E17F-4D08-B1BE-DEB5030CA8F0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571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rPr>
              <a:t>재난안전 학습을 위한 AI Agent 기반 SW</a:t>
            </a:r>
          </a:p>
        </p:txBody>
      </p:sp>
    </p:spTree>
    <p:extLst>
      <p:ext uri="{BB962C8B-B14F-4D97-AF65-F5344CB8AC3E}">
        <p14:creationId xmlns:p14="http://schemas.microsoft.com/office/powerpoint/2010/main" val="917432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B62E37C6-8CE3-4C4C-BE37-8FA9BCF5A8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3E65869-249F-47DF-A35E-117F6345F65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8FD3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4E4FB66-62CE-40DD-9521-FC48D08DB62D}"/>
              </a:ext>
            </a:extLst>
          </p:cNvPr>
          <p:cNvSpPr>
            <a:spLocks noGrp="1"/>
          </p:cNvSpPr>
          <p:nvPr/>
        </p:nvSpPr>
        <p:spPr>
          <a:xfrm>
            <a:off x="9810750" y="495300"/>
            <a:ext cx="1809750" cy="1809750"/>
          </a:xfrm>
          <a:prstGeom prst="rect">
            <a:avLst/>
          </a:prstGeom>
          <a:solidFill>
            <a:srgbClr val="DDF4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592E544-3DE9-40E0-8DD1-FE5785001D2D}"/>
              </a:ext>
            </a:extLst>
          </p:cNvPr>
          <p:cNvSpPr>
            <a:spLocks noGrp="1"/>
          </p:cNvSpPr>
          <p:nvPr/>
        </p:nvSpPr>
        <p:spPr>
          <a:xfrm>
            <a:off x="361950" y="5810250"/>
            <a:ext cx="1524000" cy="666750"/>
          </a:xfrm>
          <a:prstGeom prst="rect">
            <a:avLst/>
          </a:prstGeom>
          <a:solidFill>
            <a:srgbClr val="F1FF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009743A-2B7D-42F3-9113-851C2C361722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14300" cy="361950"/>
          </a:xfrm>
          <a:prstGeom prst="rect">
            <a:avLst/>
          </a:prstGeom>
          <a:solidFill>
            <a:srgbClr val="8FD3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14AECF8-7F33-45DD-A1F5-9682061582E3}"/>
              </a:ext>
            </a:extLst>
          </p:cNvPr>
          <p:cNvSpPr>
            <a:spLocks noGrp="1"/>
          </p:cNvSpPr>
          <p:nvPr/>
        </p:nvSpPr>
        <p:spPr>
          <a:xfrm>
            <a:off x="914400" y="457200"/>
            <a:ext cx="5334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문제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F94715F-D5AA-45E1-89B0-E9BB61BFE477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7239000" cy="2000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05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defRPr>
            </a:pPr>
            <a:r>
              <a:rPr sz="405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재난안전 영상은 많지만</a:t>
            </a:r>
          </a:p>
          <a:p>
            <a:pPr algn="l">
              <a:defRPr sz="405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defRPr>
            </a:pPr>
            <a:r>
              <a:rPr sz="405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모두가 같은 속도로</a:t>
            </a:r>
          </a:p>
          <a:p>
            <a:pPr algn="l">
              <a:defRPr sz="405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defRPr>
            </a:pPr>
            <a:r>
              <a:rPr sz="405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이해하지는 못합니다.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13367C6-CBEC-4FE0-B7CE-E579CB0A3A8A}"/>
              </a:ext>
            </a:extLst>
          </p:cNvPr>
          <p:cNvSpPr>
            <a:spLocks noGrp="1"/>
          </p:cNvSpPr>
          <p:nvPr/>
        </p:nvSpPr>
        <p:spPr>
          <a:xfrm>
            <a:off x="685800" y="3371850"/>
            <a:ext cx="6715125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화재, 지진, 태풍 영상은 장면이 빠르게 지나갑니다.</a:t>
            </a:r>
          </a:p>
          <a:p>
            <a:pPr algn="l">
              <a:defRPr sz="187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자막과 음성이 동시에 나오고,</a:t>
            </a:r>
          </a:p>
          <a:p>
            <a:pPr algn="l">
              <a:defRPr sz="187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“그래서 내가 무엇을 해야 하는지”가 쉽게 놓칩니다.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4B00015-EB2E-4ABD-830C-CB73C0AD736D}"/>
              </a:ext>
            </a:extLst>
          </p:cNvPr>
          <p:cNvSpPr>
            <a:spLocks noGrp="1"/>
          </p:cNvSpPr>
          <p:nvPr/>
        </p:nvSpPr>
        <p:spPr>
          <a:xfrm>
            <a:off x="7810500" y="1162050"/>
            <a:ext cx="3143250" cy="1123950"/>
          </a:xfrm>
          <a:prstGeom prst="rect">
            <a:avLst/>
          </a:prstGeom>
          <a:solidFill>
            <a:srgbClr val="FFE5E5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77A43A4-201D-482F-BF1C-E47C82CCF24D}"/>
              </a:ext>
            </a:extLst>
          </p:cNvPr>
          <p:cNvSpPr>
            <a:spLocks noGrp="1"/>
          </p:cNvSpPr>
          <p:nvPr/>
        </p:nvSpPr>
        <p:spPr>
          <a:xfrm>
            <a:off x="8020050" y="1390650"/>
            <a:ext cx="27241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빠른 장면 전환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1CD140A-37F4-4292-89E3-32AAEEB7FB3C}"/>
              </a:ext>
            </a:extLst>
          </p:cNvPr>
          <p:cNvSpPr>
            <a:spLocks noGrp="1"/>
          </p:cNvSpPr>
          <p:nvPr/>
        </p:nvSpPr>
        <p:spPr>
          <a:xfrm>
            <a:off x="8020050" y="1866900"/>
            <a:ext cx="2724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보는 동안 핵심 행동을 놓칠 수 있어요.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7BA65E2-EF04-496B-A53C-8612E0BDB438}"/>
              </a:ext>
            </a:extLst>
          </p:cNvPr>
          <p:cNvSpPr>
            <a:spLocks noGrp="1"/>
          </p:cNvSpPr>
          <p:nvPr/>
        </p:nvSpPr>
        <p:spPr>
          <a:xfrm>
            <a:off x="7810500" y="2609850"/>
            <a:ext cx="3143250" cy="1123950"/>
          </a:xfrm>
          <a:prstGeom prst="rect">
            <a:avLst/>
          </a:prstGeom>
          <a:solidFill>
            <a:srgbClr val="FFF3C4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9EE8C96-E282-4455-9FED-0A14DF8F4E52}"/>
              </a:ext>
            </a:extLst>
          </p:cNvPr>
          <p:cNvSpPr>
            <a:spLocks noGrp="1"/>
          </p:cNvSpPr>
          <p:nvPr/>
        </p:nvSpPr>
        <p:spPr>
          <a:xfrm>
            <a:off x="8020050" y="2838450"/>
            <a:ext cx="27241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동시에 나오는 정보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03747AB-4030-4EA7-B31D-9E7D17E9578C}"/>
              </a:ext>
            </a:extLst>
          </p:cNvPr>
          <p:cNvSpPr>
            <a:spLocks noGrp="1"/>
          </p:cNvSpPr>
          <p:nvPr/>
        </p:nvSpPr>
        <p:spPr>
          <a:xfrm>
            <a:off x="8020050" y="3314700"/>
            <a:ext cx="2724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화면, 자막, 음성을 함께 처리해야 해요.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EAC4AEE-47A7-4742-8F9B-74753556E24A}"/>
              </a:ext>
            </a:extLst>
          </p:cNvPr>
          <p:cNvSpPr>
            <a:spLocks noGrp="1"/>
          </p:cNvSpPr>
          <p:nvPr/>
        </p:nvSpPr>
        <p:spPr>
          <a:xfrm>
            <a:off x="7810500" y="4057650"/>
            <a:ext cx="3143250" cy="1123950"/>
          </a:xfrm>
          <a:prstGeom prst="rect">
            <a:avLst/>
          </a:prstGeom>
          <a:solidFill>
            <a:srgbClr val="DDFBEF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6508C38-30EB-49DD-9338-FCCCD65F05E0}"/>
              </a:ext>
            </a:extLst>
          </p:cNvPr>
          <p:cNvSpPr>
            <a:spLocks noGrp="1"/>
          </p:cNvSpPr>
          <p:nvPr/>
        </p:nvSpPr>
        <p:spPr>
          <a:xfrm>
            <a:off x="8020050" y="4286250"/>
            <a:ext cx="27241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행동으로 연결되지 않음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5A71A65-0175-4085-823E-7847B73DB114}"/>
              </a:ext>
            </a:extLst>
          </p:cNvPr>
          <p:cNvSpPr>
            <a:spLocks noGrp="1"/>
          </p:cNvSpPr>
          <p:nvPr/>
        </p:nvSpPr>
        <p:spPr>
          <a:xfrm>
            <a:off x="8020050" y="4762500"/>
            <a:ext cx="2724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영상 시청이 곧 학습이 되지 않을 수 있어요.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1111966-B2CA-4DEF-B199-4EC2B1E9D4D4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571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rPr>
              <a:t>차근차근 AI 도우미</a:t>
            </a:r>
          </a:p>
        </p:txBody>
      </p:sp>
    </p:spTree>
    <p:extLst>
      <p:ext uri="{BB962C8B-B14F-4D97-AF65-F5344CB8AC3E}">
        <p14:creationId xmlns:p14="http://schemas.microsoft.com/office/powerpoint/2010/main" val="1515828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직사각형 95">
            <a:extLst>
              <a:ext uri="{FF2B5EF4-FFF2-40B4-BE49-F238E27FC236}">
                <a16:creationId xmlns:a16="http://schemas.microsoft.com/office/drawing/2014/main" id="{AB9E151C-C602-40E2-B348-95AC82B68E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E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2657517-5A26-41E9-B8D9-93EB46F96F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7BE0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D56E5EC-9DD4-4D34-8EAD-D89636A3FBA1}"/>
              </a:ext>
            </a:extLst>
          </p:cNvPr>
          <p:cNvSpPr>
            <a:spLocks noGrp="1"/>
          </p:cNvSpPr>
          <p:nvPr/>
        </p:nvSpPr>
        <p:spPr>
          <a:xfrm>
            <a:off x="9810750" y="495300"/>
            <a:ext cx="1809750" cy="1809750"/>
          </a:xfrm>
          <a:prstGeom prst="rect">
            <a:avLst/>
          </a:prstGeom>
          <a:solidFill>
            <a:srgbClr val="E6FF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66A2586-AFB4-46B7-9CA8-0C6E65108090}"/>
              </a:ext>
            </a:extLst>
          </p:cNvPr>
          <p:cNvSpPr>
            <a:spLocks noGrp="1"/>
          </p:cNvSpPr>
          <p:nvPr/>
        </p:nvSpPr>
        <p:spPr>
          <a:xfrm>
            <a:off x="361950" y="5810250"/>
            <a:ext cx="1524000" cy="666750"/>
          </a:xfrm>
          <a:prstGeom prst="rect">
            <a:avLst/>
          </a:prstGeom>
          <a:solidFill>
            <a:srgbClr val="EAF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CA468E5-E9ED-420A-8D9F-BE5C2B6E811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14300" cy="361950"/>
          </a:xfrm>
          <a:prstGeom prst="rect">
            <a:avLst/>
          </a:prstGeom>
          <a:solidFill>
            <a:srgbClr val="7BE0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84566E7-FA7B-4D43-8CAD-4CBAC0E0AD1D}"/>
              </a:ext>
            </a:extLst>
          </p:cNvPr>
          <p:cNvSpPr>
            <a:spLocks noGrp="1"/>
          </p:cNvSpPr>
          <p:nvPr/>
        </p:nvSpPr>
        <p:spPr>
          <a:xfrm>
            <a:off x="914400" y="457200"/>
            <a:ext cx="5334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대상 규모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68A887B-04F3-4D18-9329-DEE820EE7D07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628650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45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defRPr>
            </a:pPr>
            <a:r>
              <a:rPr sz="345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경계선지능인은</a:t>
            </a:r>
          </a:p>
          <a:p>
            <a:pPr algn="l">
              <a:defRPr sz="345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defRPr>
            </a:pPr>
            <a:r>
              <a:rPr sz="345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“소수”가 아니라</a:t>
            </a:r>
          </a:p>
          <a:p>
            <a:pPr algn="l">
              <a:defRPr sz="345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defRPr>
            </a:pPr>
            <a:r>
              <a:rPr sz="345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7명 중 1명 규모입니다.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93F96A3-15BE-4958-9B28-D3CF204C99BB}"/>
              </a:ext>
            </a:extLst>
          </p:cNvPr>
          <p:cNvSpPr>
            <a:spLocks noGrp="1"/>
          </p:cNvSpPr>
          <p:nvPr/>
        </p:nvSpPr>
        <p:spPr>
          <a:xfrm>
            <a:off x="685800" y="2743200"/>
            <a:ext cx="5334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IQ 70~85 구간으로 추정되는 경계선지능인은</a:t>
            </a:r>
          </a:p>
          <a:p>
            <a:pPr algn="l">
              <a:defRPr sz="1725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전체 인구의 13.59%에 이릅니다.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4CE1486-4637-4B75-AE13-F2D9F9F2F566}"/>
              </a:ext>
            </a:extLst>
          </p:cNvPr>
          <p:cNvSpPr>
            <a:spLocks noGrp="1"/>
          </p:cNvSpPr>
          <p:nvPr/>
        </p:nvSpPr>
        <p:spPr>
          <a:xfrm>
            <a:off x="762000" y="3762375"/>
            <a:ext cx="323850" cy="781050"/>
          </a:xfrm>
          <a:prstGeom prst="rect">
            <a:avLst/>
          </a:prstGeom>
          <a:solidFill>
            <a:srgbClr val="DDEB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F409ECE5-EA42-490A-BDFC-D26EF848C92F}"/>
              </a:ext>
            </a:extLst>
          </p:cNvPr>
          <p:cNvSpPr>
            <a:spLocks noGrp="1"/>
          </p:cNvSpPr>
          <p:nvPr/>
        </p:nvSpPr>
        <p:spPr>
          <a:xfrm>
            <a:off x="790575" y="3438525"/>
            <a:ext cx="266700" cy="266700"/>
          </a:xfrm>
          <a:prstGeom prst="ellipse">
            <a:avLst/>
          </a:prstGeom>
          <a:solidFill>
            <a:srgbClr val="DDEB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9330736-EAC5-4391-A4C5-5C33AF5FBCF5}"/>
              </a:ext>
            </a:extLst>
          </p:cNvPr>
          <p:cNvSpPr>
            <a:spLocks noGrp="1"/>
          </p:cNvSpPr>
          <p:nvPr/>
        </p:nvSpPr>
        <p:spPr>
          <a:xfrm>
            <a:off x="1276350" y="3762375"/>
            <a:ext cx="323850" cy="781050"/>
          </a:xfrm>
          <a:prstGeom prst="rect">
            <a:avLst/>
          </a:prstGeom>
          <a:solidFill>
            <a:srgbClr val="FF6B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BFA5F02C-95FB-430F-A44C-88D982714166}"/>
              </a:ext>
            </a:extLst>
          </p:cNvPr>
          <p:cNvSpPr>
            <a:spLocks noGrp="1"/>
          </p:cNvSpPr>
          <p:nvPr/>
        </p:nvSpPr>
        <p:spPr>
          <a:xfrm>
            <a:off x="1304925" y="3438525"/>
            <a:ext cx="266700" cy="266700"/>
          </a:xfrm>
          <a:prstGeom prst="ellipse">
            <a:avLst/>
          </a:prstGeom>
          <a:solidFill>
            <a:srgbClr val="FF6B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657A13D-3247-4B06-BED8-8875DC46D66A}"/>
              </a:ext>
            </a:extLst>
          </p:cNvPr>
          <p:cNvSpPr>
            <a:spLocks noGrp="1"/>
          </p:cNvSpPr>
          <p:nvPr/>
        </p:nvSpPr>
        <p:spPr>
          <a:xfrm>
            <a:off x="1790700" y="3762375"/>
            <a:ext cx="323850" cy="781050"/>
          </a:xfrm>
          <a:prstGeom prst="rect">
            <a:avLst/>
          </a:prstGeom>
          <a:solidFill>
            <a:srgbClr val="DDEB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69384E69-99C0-4EDA-AD39-20568B912C7A}"/>
              </a:ext>
            </a:extLst>
          </p:cNvPr>
          <p:cNvSpPr>
            <a:spLocks noGrp="1"/>
          </p:cNvSpPr>
          <p:nvPr/>
        </p:nvSpPr>
        <p:spPr>
          <a:xfrm>
            <a:off x="1819275" y="3438525"/>
            <a:ext cx="266700" cy="266700"/>
          </a:xfrm>
          <a:prstGeom prst="ellipse">
            <a:avLst/>
          </a:prstGeom>
          <a:solidFill>
            <a:srgbClr val="DDEB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D181BB2-4E56-47D6-A077-0A0E8D4401F2}"/>
              </a:ext>
            </a:extLst>
          </p:cNvPr>
          <p:cNvSpPr>
            <a:spLocks noGrp="1"/>
          </p:cNvSpPr>
          <p:nvPr/>
        </p:nvSpPr>
        <p:spPr>
          <a:xfrm>
            <a:off x="2305050" y="3762375"/>
            <a:ext cx="323850" cy="781050"/>
          </a:xfrm>
          <a:prstGeom prst="rect">
            <a:avLst/>
          </a:prstGeom>
          <a:solidFill>
            <a:srgbClr val="DDEB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DC2524D5-5981-48AE-8FAA-727AF85C58A2}"/>
              </a:ext>
            </a:extLst>
          </p:cNvPr>
          <p:cNvSpPr>
            <a:spLocks noGrp="1"/>
          </p:cNvSpPr>
          <p:nvPr/>
        </p:nvSpPr>
        <p:spPr>
          <a:xfrm>
            <a:off x="2333625" y="3438525"/>
            <a:ext cx="266700" cy="266700"/>
          </a:xfrm>
          <a:prstGeom prst="ellipse">
            <a:avLst/>
          </a:prstGeom>
          <a:solidFill>
            <a:srgbClr val="DDEB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A2A36B7-FC69-4257-BC8D-2DB6108DDD7E}"/>
              </a:ext>
            </a:extLst>
          </p:cNvPr>
          <p:cNvSpPr>
            <a:spLocks noGrp="1"/>
          </p:cNvSpPr>
          <p:nvPr/>
        </p:nvSpPr>
        <p:spPr>
          <a:xfrm>
            <a:off x="2819400" y="3762375"/>
            <a:ext cx="323850" cy="781050"/>
          </a:xfrm>
          <a:prstGeom prst="rect">
            <a:avLst/>
          </a:prstGeom>
          <a:solidFill>
            <a:srgbClr val="DDEB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5E55CCFA-B090-45F3-9561-E1DCAC346DA3}"/>
              </a:ext>
            </a:extLst>
          </p:cNvPr>
          <p:cNvSpPr>
            <a:spLocks noGrp="1"/>
          </p:cNvSpPr>
          <p:nvPr/>
        </p:nvSpPr>
        <p:spPr>
          <a:xfrm>
            <a:off x="2847975" y="3438525"/>
            <a:ext cx="266700" cy="266700"/>
          </a:xfrm>
          <a:prstGeom prst="ellipse">
            <a:avLst/>
          </a:prstGeom>
          <a:solidFill>
            <a:srgbClr val="DDEB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4817B64-18D1-4AD9-9FC0-1788A75DF111}"/>
              </a:ext>
            </a:extLst>
          </p:cNvPr>
          <p:cNvSpPr>
            <a:spLocks noGrp="1"/>
          </p:cNvSpPr>
          <p:nvPr/>
        </p:nvSpPr>
        <p:spPr>
          <a:xfrm>
            <a:off x="3333750" y="3762375"/>
            <a:ext cx="323850" cy="781050"/>
          </a:xfrm>
          <a:prstGeom prst="rect">
            <a:avLst/>
          </a:prstGeom>
          <a:solidFill>
            <a:srgbClr val="DDEB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E0D7DB61-C943-4483-B6BF-52CF75AFBF8A}"/>
              </a:ext>
            </a:extLst>
          </p:cNvPr>
          <p:cNvSpPr>
            <a:spLocks noGrp="1"/>
          </p:cNvSpPr>
          <p:nvPr/>
        </p:nvSpPr>
        <p:spPr>
          <a:xfrm>
            <a:off x="3362325" y="3438525"/>
            <a:ext cx="266700" cy="266700"/>
          </a:xfrm>
          <a:prstGeom prst="ellipse">
            <a:avLst/>
          </a:prstGeom>
          <a:solidFill>
            <a:srgbClr val="DDEB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573803E-1510-4D8C-8970-D5915B3D47D3}"/>
              </a:ext>
            </a:extLst>
          </p:cNvPr>
          <p:cNvSpPr>
            <a:spLocks noGrp="1"/>
          </p:cNvSpPr>
          <p:nvPr/>
        </p:nvSpPr>
        <p:spPr>
          <a:xfrm>
            <a:off x="3848100" y="3762375"/>
            <a:ext cx="323850" cy="781050"/>
          </a:xfrm>
          <a:prstGeom prst="rect">
            <a:avLst/>
          </a:prstGeom>
          <a:solidFill>
            <a:srgbClr val="DDEB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0B091283-B4C4-4FF2-949C-623083688C57}"/>
              </a:ext>
            </a:extLst>
          </p:cNvPr>
          <p:cNvSpPr>
            <a:spLocks noGrp="1"/>
          </p:cNvSpPr>
          <p:nvPr/>
        </p:nvSpPr>
        <p:spPr>
          <a:xfrm>
            <a:off x="3876675" y="3438525"/>
            <a:ext cx="266700" cy="266700"/>
          </a:xfrm>
          <a:prstGeom prst="ellipse">
            <a:avLst/>
          </a:prstGeom>
          <a:solidFill>
            <a:srgbClr val="DDEBE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3C5B6F9-49CA-4804-9939-358076621E3A}"/>
              </a:ext>
            </a:extLst>
          </p:cNvPr>
          <p:cNvSpPr>
            <a:spLocks noGrp="1"/>
          </p:cNvSpPr>
          <p:nvPr/>
        </p:nvSpPr>
        <p:spPr>
          <a:xfrm>
            <a:off x="704850" y="4953000"/>
            <a:ext cx="4476750" cy="819150"/>
          </a:xfrm>
          <a:prstGeom prst="rect">
            <a:avLst/>
          </a:prstGeom>
          <a:solidFill>
            <a:srgbClr val="FFF3C4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0224B40-B346-4A4E-BF75-485896F855E4}"/>
              </a:ext>
            </a:extLst>
          </p:cNvPr>
          <p:cNvSpPr>
            <a:spLocks noGrp="1"/>
          </p:cNvSpPr>
          <p:nvPr/>
        </p:nvSpPr>
        <p:spPr>
          <a:xfrm>
            <a:off x="914400" y="5181600"/>
            <a:ext cx="4057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국민 약 697만 명 · 초중고생 약 78만 명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56A6CEC-7A32-4C5E-B5C0-CDDD4AF2213B}"/>
              </a:ext>
            </a:extLst>
          </p:cNvPr>
          <p:cNvSpPr>
            <a:spLocks noGrp="1"/>
          </p:cNvSpPr>
          <p:nvPr/>
        </p:nvSpPr>
        <p:spPr>
          <a:xfrm>
            <a:off x="914400" y="5448300"/>
            <a:ext cx="405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정규분포 추정 기준으로 지원 대상 규모가 매우 큽니다.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0D549C5-4747-4FE6-A97E-2E1AAFFE6E3B}"/>
              </a:ext>
            </a:extLst>
          </p:cNvPr>
          <p:cNvSpPr>
            <a:spLocks noGrp="1"/>
          </p:cNvSpPr>
          <p:nvPr/>
        </p:nvSpPr>
        <p:spPr>
          <a:xfrm>
            <a:off x="5600700" y="1162050"/>
            <a:ext cx="5753100" cy="3886200"/>
          </a:xfrm>
          <a:prstGeom prst="rect">
            <a:avLst/>
          </a:prstGeom>
          <a:solidFill>
            <a:srgbClr val="FBFEFA"/>
          </a:solidFill>
          <a:ln w="9525">
            <a:solidFill>
              <a:srgbClr val="E3E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798A1BB-FA28-4377-A988-DB255B5D3706}"/>
              </a:ext>
            </a:extLst>
          </p:cNvPr>
          <p:cNvSpPr>
            <a:spLocks noGrp="1"/>
          </p:cNvSpPr>
          <p:nvPr/>
        </p:nvSpPr>
        <p:spPr>
          <a:xfrm>
            <a:off x="5810250" y="13906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단위: %  ※ 인원수는 IQ 정규분포에 따라 추정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5A557A6-9145-4739-A7F0-8157B1AC41FB}"/>
              </a:ext>
            </a:extLst>
          </p:cNvPr>
          <p:cNvSpPr>
            <a:spLocks noGrp="1"/>
          </p:cNvSpPr>
          <p:nvPr/>
        </p:nvSpPr>
        <p:spPr>
          <a:xfrm>
            <a:off x="6699250" y="1847850"/>
            <a:ext cx="889000" cy="2162175"/>
          </a:xfrm>
          <a:prstGeom prst="rect">
            <a:avLst/>
          </a:prstGeom>
          <a:solidFill>
            <a:srgbClr val="FFD5C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89CEE68-11DC-411F-AE4C-344AB1302E0E}"/>
              </a:ext>
            </a:extLst>
          </p:cNvPr>
          <p:cNvSpPr>
            <a:spLocks noGrp="1"/>
          </p:cNvSpPr>
          <p:nvPr/>
        </p:nvSpPr>
        <p:spPr>
          <a:xfrm>
            <a:off x="5810250" y="1847850"/>
            <a:ext cx="889000" cy="2162175"/>
          </a:xfrm>
          <a:prstGeom prst="rect">
            <a:avLst/>
          </a:prstGeom>
          <a:solidFill>
            <a:srgbClr val="FFF0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7D0AC1B-6245-44C0-976E-E4AA409FA89A}"/>
              </a:ext>
            </a:extLst>
          </p:cNvPr>
          <p:cNvSpPr>
            <a:spLocks noGrp="1"/>
          </p:cNvSpPr>
          <p:nvPr/>
        </p:nvSpPr>
        <p:spPr>
          <a:xfrm>
            <a:off x="5810250" y="1847850"/>
            <a:ext cx="13335" cy="2257425"/>
          </a:xfrm>
          <a:prstGeom prst="rect">
            <a:avLst/>
          </a:prstGeom>
          <a:solidFill>
            <a:srgbClr val="D8E6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B6116F0-4797-4ACA-8597-CD7466C82CB1}"/>
              </a:ext>
            </a:extLst>
          </p:cNvPr>
          <p:cNvSpPr>
            <a:spLocks noGrp="1"/>
          </p:cNvSpPr>
          <p:nvPr/>
        </p:nvSpPr>
        <p:spPr>
          <a:xfrm>
            <a:off x="5619750" y="4162425"/>
            <a:ext cx="38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55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CF5471E-F7B9-49ED-A173-2C4D0B3836A3}"/>
              </a:ext>
            </a:extLst>
          </p:cNvPr>
          <p:cNvSpPr>
            <a:spLocks noGrp="1"/>
          </p:cNvSpPr>
          <p:nvPr/>
        </p:nvSpPr>
        <p:spPr>
          <a:xfrm>
            <a:off x="6699250" y="1847850"/>
            <a:ext cx="13335" cy="2257425"/>
          </a:xfrm>
          <a:prstGeom prst="rect">
            <a:avLst/>
          </a:prstGeom>
          <a:solidFill>
            <a:srgbClr val="D8E6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9547C57-E469-4261-9789-AF9CE0554E84}"/>
              </a:ext>
            </a:extLst>
          </p:cNvPr>
          <p:cNvSpPr>
            <a:spLocks noGrp="1"/>
          </p:cNvSpPr>
          <p:nvPr/>
        </p:nvSpPr>
        <p:spPr>
          <a:xfrm>
            <a:off x="6508750" y="4162425"/>
            <a:ext cx="38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70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3F1BD61-3ABF-4B9F-868D-7FC84F144CB7}"/>
              </a:ext>
            </a:extLst>
          </p:cNvPr>
          <p:cNvSpPr>
            <a:spLocks noGrp="1"/>
          </p:cNvSpPr>
          <p:nvPr/>
        </p:nvSpPr>
        <p:spPr>
          <a:xfrm>
            <a:off x="7588250" y="1847850"/>
            <a:ext cx="13335" cy="2257425"/>
          </a:xfrm>
          <a:prstGeom prst="rect">
            <a:avLst/>
          </a:prstGeom>
          <a:solidFill>
            <a:srgbClr val="D8E6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AA128C0-5E54-441C-B8E3-B8D9D388D32C}"/>
              </a:ext>
            </a:extLst>
          </p:cNvPr>
          <p:cNvSpPr>
            <a:spLocks noGrp="1"/>
          </p:cNvSpPr>
          <p:nvPr/>
        </p:nvSpPr>
        <p:spPr>
          <a:xfrm>
            <a:off x="7397750" y="4162425"/>
            <a:ext cx="38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85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AAE55FF-934A-4320-A7C9-B5F40D4E9A4D}"/>
              </a:ext>
            </a:extLst>
          </p:cNvPr>
          <p:cNvSpPr>
            <a:spLocks noGrp="1"/>
          </p:cNvSpPr>
          <p:nvPr/>
        </p:nvSpPr>
        <p:spPr>
          <a:xfrm>
            <a:off x="8477250" y="1847850"/>
            <a:ext cx="13335" cy="2257425"/>
          </a:xfrm>
          <a:prstGeom prst="rect">
            <a:avLst/>
          </a:prstGeom>
          <a:solidFill>
            <a:srgbClr val="D8E6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8B0B0AB-219E-4739-B71F-1DAE6FE6C179}"/>
              </a:ext>
            </a:extLst>
          </p:cNvPr>
          <p:cNvSpPr>
            <a:spLocks noGrp="1"/>
          </p:cNvSpPr>
          <p:nvPr/>
        </p:nvSpPr>
        <p:spPr>
          <a:xfrm>
            <a:off x="8286750" y="4162425"/>
            <a:ext cx="38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100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AA119C3-D129-4DED-A499-6F0F51183DA5}"/>
              </a:ext>
            </a:extLst>
          </p:cNvPr>
          <p:cNvSpPr>
            <a:spLocks noGrp="1"/>
          </p:cNvSpPr>
          <p:nvPr/>
        </p:nvSpPr>
        <p:spPr>
          <a:xfrm>
            <a:off x="9366250" y="1847850"/>
            <a:ext cx="13335" cy="2257425"/>
          </a:xfrm>
          <a:prstGeom prst="rect">
            <a:avLst/>
          </a:prstGeom>
          <a:solidFill>
            <a:srgbClr val="D8E6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A6C07AB-9B99-49AF-A255-4BE7C6970E4B}"/>
              </a:ext>
            </a:extLst>
          </p:cNvPr>
          <p:cNvSpPr>
            <a:spLocks noGrp="1"/>
          </p:cNvSpPr>
          <p:nvPr/>
        </p:nvSpPr>
        <p:spPr>
          <a:xfrm>
            <a:off x="9175750" y="4162425"/>
            <a:ext cx="38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115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8A29269-789A-4491-9D1A-B84C0E6434CC}"/>
              </a:ext>
            </a:extLst>
          </p:cNvPr>
          <p:cNvSpPr>
            <a:spLocks noGrp="1"/>
          </p:cNvSpPr>
          <p:nvPr/>
        </p:nvSpPr>
        <p:spPr>
          <a:xfrm>
            <a:off x="10255250" y="1847850"/>
            <a:ext cx="13335" cy="2257425"/>
          </a:xfrm>
          <a:prstGeom prst="rect">
            <a:avLst/>
          </a:prstGeom>
          <a:solidFill>
            <a:srgbClr val="D8E6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ED6AD7C-EE9B-420E-962F-EF36246670F4}"/>
              </a:ext>
            </a:extLst>
          </p:cNvPr>
          <p:cNvSpPr>
            <a:spLocks noGrp="1"/>
          </p:cNvSpPr>
          <p:nvPr/>
        </p:nvSpPr>
        <p:spPr>
          <a:xfrm>
            <a:off x="10064750" y="4162425"/>
            <a:ext cx="38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130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F908F4B-E177-4498-AAA8-FEA617C50609}"/>
              </a:ext>
            </a:extLst>
          </p:cNvPr>
          <p:cNvSpPr>
            <a:spLocks noGrp="1"/>
          </p:cNvSpPr>
          <p:nvPr/>
        </p:nvSpPr>
        <p:spPr>
          <a:xfrm>
            <a:off x="11144250" y="1847850"/>
            <a:ext cx="13335" cy="2257425"/>
          </a:xfrm>
          <a:prstGeom prst="rect">
            <a:avLst/>
          </a:prstGeom>
          <a:solidFill>
            <a:srgbClr val="D8E6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F58FF25-3F53-449C-B546-1759596B020D}"/>
              </a:ext>
            </a:extLst>
          </p:cNvPr>
          <p:cNvSpPr>
            <a:spLocks noGrp="1"/>
          </p:cNvSpPr>
          <p:nvPr/>
        </p:nvSpPr>
        <p:spPr>
          <a:xfrm>
            <a:off x="10953750" y="4162425"/>
            <a:ext cx="38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145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3A5EA69-5D34-4158-B618-1CC85FD698F0}"/>
              </a:ext>
            </a:extLst>
          </p:cNvPr>
          <p:cNvSpPr>
            <a:spLocks noGrp="1"/>
          </p:cNvSpPr>
          <p:nvPr/>
        </p:nvSpPr>
        <p:spPr>
          <a:xfrm>
            <a:off x="5810250" y="4010025"/>
            <a:ext cx="5334000" cy="19050"/>
          </a:xfrm>
          <a:prstGeom prst="rect">
            <a:avLst/>
          </a:prstGeom>
          <a:solidFill>
            <a:srgbClr val="12231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40173B12-D751-4B26-A710-5BEFA595AD93}"/>
              </a:ext>
            </a:extLst>
          </p:cNvPr>
          <p:cNvSpPr>
            <a:spLocks noGrp="1"/>
          </p:cNvSpPr>
          <p:nvPr/>
        </p:nvSpPr>
        <p:spPr>
          <a:xfrm>
            <a:off x="5779770" y="3958382"/>
            <a:ext cx="60960" cy="60960"/>
          </a:xfrm>
          <a:prstGeom prst="rect">
            <a:avLst/>
          </a:prstGeom>
          <a:solidFill>
            <a:srgbClr val="078C98"/>
          </a:solidFill>
          <a:ln w="0">
            <a:solidFill>
              <a:srgbClr val="078C9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48C2D88F-99DE-492D-AAA5-BF1E50066DC7}"/>
              </a:ext>
            </a:extLst>
          </p:cNvPr>
          <p:cNvSpPr>
            <a:spLocks noGrp="1"/>
          </p:cNvSpPr>
          <p:nvPr/>
        </p:nvSpPr>
        <p:spPr>
          <a:xfrm>
            <a:off x="5927937" y="3945135"/>
            <a:ext cx="60960" cy="60960"/>
          </a:xfrm>
          <a:prstGeom prst="rect">
            <a:avLst/>
          </a:prstGeom>
          <a:solidFill>
            <a:srgbClr val="078C98"/>
          </a:solidFill>
          <a:ln w="0">
            <a:solidFill>
              <a:srgbClr val="078C9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723DA8E0-BB01-417E-9698-1B9A8029FBD1}"/>
              </a:ext>
            </a:extLst>
          </p:cNvPr>
          <p:cNvSpPr>
            <a:spLocks noGrp="1"/>
          </p:cNvSpPr>
          <p:nvPr/>
        </p:nvSpPr>
        <p:spPr>
          <a:xfrm>
            <a:off x="6076103" y="3925128"/>
            <a:ext cx="60960" cy="60960"/>
          </a:xfrm>
          <a:prstGeom prst="rect">
            <a:avLst/>
          </a:prstGeom>
          <a:solidFill>
            <a:srgbClr val="078C98"/>
          </a:solidFill>
          <a:ln w="0">
            <a:solidFill>
              <a:srgbClr val="078C9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5A40339-06D1-4D27-88AE-0D47E6E1274E}"/>
              </a:ext>
            </a:extLst>
          </p:cNvPr>
          <p:cNvSpPr>
            <a:spLocks noGrp="1"/>
          </p:cNvSpPr>
          <p:nvPr/>
        </p:nvSpPr>
        <p:spPr>
          <a:xfrm>
            <a:off x="6224270" y="3895845"/>
            <a:ext cx="60960" cy="60960"/>
          </a:xfrm>
          <a:prstGeom prst="rect">
            <a:avLst/>
          </a:prstGeom>
          <a:solidFill>
            <a:srgbClr val="078C98"/>
          </a:solidFill>
          <a:ln w="0">
            <a:solidFill>
              <a:srgbClr val="078C9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D1246CE1-860E-4203-9894-CD16C0508CCF}"/>
              </a:ext>
            </a:extLst>
          </p:cNvPr>
          <p:cNvSpPr>
            <a:spLocks noGrp="1"/>
          </p:cNvSpPr>
          <p:nvPr/>
        </p:nvSpPr>
        <p:spPr>
          <a:xfrm>
            <a:off x="6372437" y="3854332"/>
            <a:ext cx="60960" cy="60960"/>
          </a:xfrm>
          <a:prstGeom prst="rect">
            <a:avLst/>
          </a:prstGeom>
          <a:solidFill>
            <a:srgbClr val="078C98"/>
          </a:solidFill>
          <a:ln w="0">
            <a:solidFill>
              <a:srgbClr val="078C9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BCC575E6-31AD-4E30-B74E-B552EB0C66BE}"/>
              </a:ext>
            </a:extLst>
          </p:cNvPr>
          <p:cNvSpPr>
            <a:spLocks noGrp="1"/>
          </p:cNvSpPr>
          <p:nvPr/>
        </p:nvSpPr>
        <p:spPr>
          <a:xfrm>
            <a:off x="6520603" y="3797361"/>
            <a:ext cx="60960" cy="60960"/>
          </a:xfrm>
          <a:prstGeom prst="rect">
            <a:avLst/>
          </a:prstGeom>
          <a:solidFill>
            <a:srgbClr val="078C98"/>
          </a:solidFill>
          <a:ln w="0">
            <a:solidFill>
              <a:srgbClr val="078C9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D24A67C8-749C-4516-9B80-8200C414D0EB}"/>
              </a:ext>
            </a:extLst>
          </p:cNvPr>
          <p:cNvSpPr>
            <a:spLocks noGrp="1"/>
          </p:cNvSpPr>
          <p:nvPr/>
        </p:nvSpPr>
        <p:spPr>
          <a:xfrm>
            <a:off x="6668770" y="3721731"/>
            <a:ext cx="60960" cy="60960"/>
          </a:xfrm>
          <a:prstGeom prst="rect">
            <a:avLst/>
          </a:prstGeom>
          <a:solidFill>
            <a:srgbClr val="078C98"/>
          </a:solidFill>
          <a:ln w="0">
            <a:solidFill>
              <a:srgbClr val="078C9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1247C37-1988-4E73-923F-3DEFFBB46A4D}"/>
              </a:ext>
            </a:extLst>
          </p:cNvPr>
          <p:cNvSpPr>
            <a:spLocks noGrp="1"/>
          </p:cNvSpPr>
          <p:nvPr/>
        </p:nvSpPr>
        <p:spPr>
          <a:xfrm>
            <a:off x="6816937" y="3624700"/>
            <a:ext cx="60960" cy="60960"/>
          </a:xfrm>
          <a:prstGeom prst="rect">
            <a:avLst/>
          </a:prstGeom>
          <a:solidFill>
            <a:srgbClr val="078C98"/>
          </a:solidFill>
          <a:ln w="0">
            <a:solidFill>
              <a:srgbClr val="078C9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5260BE5A-8962-4291-A3F3-E51EDD4DA82A}"/>
              </a:ext>
            </a:extLst>
          </p:cNvPr>
          <p:cNvSpPr>
            <a:spLocks noGrp="1"/>
          </p:cNvSpPr>
          <p:nvPr/>
        </p:nvSpPr>
        <p:spPr>
          <a:xfrm>
            <a:off x="6965103" y="3504529"/>
            <a:ext cx="60960" cy="60960"/>
          </a:xfrm>
          <a:prstGeom prst="rect">
            <a:avLst/>
          </a:prstGeom>
          <a:solidFill>
            <a:srgbClr val="078C98"/>
          </a:solidFill>
          <a:ln w="0">
            <a:solidFill>
              <a:srgbClr val="078C9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4D1A0D00-A94E-46C3-949D-1D8CE9E58D39}"/>
              </a:ext>
            </a:extLst>
          </p:cNvPr>
          <p:cNvSpPr>
            <a:spLocks noGrp="1"/>
          </p:cNvSpPr>
          <p:nvPr/>
        </p:nvSpPr>
        <p:spPr>
          <a:xfrm>
            <a:off x="7113270" y="3361082"/>
            <a:ext cx="60960" cy="60960"/>
          </a:xfrm>
          <a:prstGeom prst="rect">
            <a:avLst/>
          </a:prstGeom>
          <a:solidFill>
            <a:srgbClr val="078C98"/>
          </a:solidFill>
          <a:ln w="0">
            <a:solidFill>
              <a:srgbClr val="078C9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4B6D67B4-BE71-4362-B43B-98BE6E6EFC3B}"/>
              </a:ext>
            </a:extLst>
          </p:cNvPr>
          <p:cNvSpPr>
            <a:spLocks noGrp="1"/>
          </p:cNvSpPr>
          <p:nvPr/>
        </p:nvSpPr>
        <p:spPr>
          <a:xfrm>
            <a:off x="7261437" y="3196376"/>
            <a:ext cx="60960" cy="60960"/>
          </a:xfrm>
          <a:prstGeom prst="rect">
            <a:avLst/>
          </a:prstGeom>
          <a:solidFill>
            <a:srgbClr val="078C98"/>
          </a:solidFill>
          <a:ln w="0">
            <a:solidFill>
              <a:srgbClr val="078C9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DDE75940-47E8-49AD-A161-3FB2E0795C52}"/>
              </a:ext>
            </a:extLst>
          </p:cNvPr>
          <p:cNvSpPr>
            <a:spLocks noGrp="1"/>
          </p:cNvSpPr>
          <p:nvPr/>
        </p:nvSpPr>
        <p:spPr>
          <a:xfrm>
            <a:off x="7409603" y="3014976"/>
            <a:ext cx="60960" cy="60960"/>
          </a:xfrm>
          <a:prstGeom prst="rect">
            <a:avLst/>
          </a:prstGeom>
          <a:solidFill>
            <a:srgbClr val="078C98"/>
          </a:solidFill>
          <a:ln w="0">
            <a:solidFill>
              <a:srgbClr val="078C9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21FC3530-3FF8-4A29-B542-6E055E3F12B7}"/>
              </a:ext>
            </a:extLst>
          </p:cNvPr>
          <p:cNvSpPr>
            <a:spLocks noGrp="1"/>
          </p:cNvSpPr>
          <p:nvPr/>
        </p:nvSpPr>
        <p:spPr>
          <a:xfrm>
            <a:off x="7557770" y="2824104"/>
            <a:ext cx="60960" cy="60960"/>
          </a:xfrm>
          <a:prstGeom prst="rect">
            <a:avLst/>
          </a:prstGeom>
          <a:solidFill>
            <a:srgbClr val="078C98"/>
          </a:solidFill>
          <a:ln w="0">
            <a:solidFill>
              <a:srgbClr val="078C9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A2D57B26-9DBC-49A4-85B6-1E57F3C45305}"/>
              </a:ext>
            </a:extLst>
          </p:cNvPr>
          <p:cNvSpPr>
            <a:spLocks noGrp="1"/>
          </p:cNvSpPr>
          <p:nvPr/>
        </p:nvSpPr>
        <p:spPr>
          <a:xfrm>
            <a:off x="7705937" y="2633380"/>
            <a:ext cx="60960" cy="60960"/>
          </a:xfrm>
          <a:prstGeom prst="rect">
            <a:avLst/>
          </a:prstGeom>
          <a:solidFill>
            <a:srgbClr val="078C98"/>
          </a:solidFill>
          <a:ln w="0">
            <a:solidFill>
              <a:srgbClr val="078C9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2DD61C49-91CF-4B58-BD1B-924B0B71E6CD}"/>
              </a:ext>
            </a:extLst>
          </p:cNvPr>
          <p:cNvSpPr>
            <a:spLocks noGrp="1"/>
          </p:cNvSpPr>
          <p:nvPr/>
        </p:nvSpPr>
        <p:spPr>
          <a:xfrm>
            <a:off x="7854103" y="2454140"/>
            <a:ext cx="60960" cy="60960"/>
          </a:xfrm>
          <a:prstGeom prst="rect">
            <a:avLst/>
          </a:prstGeom>
          <a:solidFill>
            <a:srgbClr val="078C98"/>
          </a:solidFill>
          <a:ln w="0">
            <a:solidFill>
              <a:srgbClr val="078C9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B18207DC-F800-4F05-AFC4-D54A3C6EA1A7}"/>
              </a:ext>
            </a:extLst>
          </p:cNvPr>
          <p:cNvSpPr>
            <a:spLocks noGrp="1"/>
          </p:cNvSpPr>
          <p:nvPr/>
        </p:nvSpPr>
        <p:spPr>
          <a:xfrm>
            <a:off x="8002270" y="2298388"/>
            <a:ext cx="60960" cy="60960"/>
          </a:xfrm>
          <a:prstGeom prst="rect">
            <a:avLst/>
          </a:prstGeom>
          <a:solidFill>
            <a:srgbClr val="078C98"/>
          </a:solidFill>
          <a:ln w="0">
            <a:solidFill>
              <a:srgbClr val="078C9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3E5C93A7-66F3-464C-98BD-7D6AAFF70FA6}"/>
              </a:ext>
            </a:extLst>
          </p:cNvPr>
          <p:cNvSpPr>
            <a:spLocks noGrp="1"/>
          </p:cNvSpPr>
          <p:nvPr/>
        </p:nvSpPr>
        <p:spPr>
          <a:xfrm>
            <a:off x="8150437" y="2177492"/>
            <a:ext cx="60960" cy="60960"/>
          </a:xfrm>
          <a:prstGeom prst="rect">
            <a:avLst/>
          </a:prstGeom>
          <a:solidFill>
            <a:srgbClr val="078C98"/>
          </a:solidFill>
          <a:ln w="0">
            <a:solidFill>
              <a:srgbClr val="078C9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68529A7D-EE2A-4875-AB63-7C5C699AA2C6}"/>
              </a:ext>
            </a:extLst>
          </p:cNvPr>
          <p:cNvSpPr>
            <a:spLocks noGrp="1"/>
          </p:cNvSpPr>
          <p:nvPr/>
        </p:nvSpPr>
        <p:spPr>
          <a:xfrm>
            <a:off x="8298603" y="2100820"/>
            <a:ext cx="60960" cy="60960"/>
          </a:xfrm>
          <a:prstGeom prst="rect">
            <a:avLst/>
          </a:prstGeom>
          <a:solidFill>
            <a:srgbClr val="078C98"/>
          </a:solidFill>
          <a:ln w="0">
            <a:solidFill>
              <a:srgbClr val="078C9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151D092E-BC79-4FC3-9990-82C4B9C9FE6C}"/>
              </a:ext>
            </a:extLst>
          </p:cNvPr>
          <p:cNvSpPr>
            <a:spLocks noGrp="1"/>
          </p:cNvSpPr>
          <p:nvPr/>
        </p:nvSpPr>
        <p:spPr>
          <a:xfrm>
            <a:off x="8446770" y="2074545"/>
            <a:ext cx="60960" cy="60960"/>
          </a:xfrm>
          <a:prstGeom prst="rect">
            <a:avLst/>
          </a:prstGeom>
          <a:solidFill>
            <a:srgbClr val="078C98"/>
          </a:solidFill>
          <a:ln w="0">
            <a:solidFill>
              <a:srgbClr val="078C9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3881918F-2C6A-4779-8EC4-0EAE976BF1A8}"/>
              </a:ext>
            </a:extLst>
          </p:cNvPr>
          <p:cNvSpPr>
            <a:spLocks noGrp="1"/>
          </p:cNvSpPr>
          <p:nvPr/>
        </p:nvSpPr>
        <p:spPr>
          <a:xfrm>
            <a:off x="8594937" y="2100820"/>
            <a:ext cx="60960" cy="60960"/>
          </a:xfrm>
          <a:prstGeom prst="rect">
            <a:avLst/>
          </a:prstGeom>
          <a:solidFill>
            <a:srgbClr val="078C98"/>
          </a:solidFill>
          <a:ln w="0">
            <a:solidFill>
              <a:srgbClr val="078C9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2CC86FA4-B61A-43DD-874D-EC2AF4FD7BA8}"/>
              </a:ext>
            </a:extLst>
          </p:cNvPr>
          <p:cNvSpPr>
            <a:spLocks noGrp="1"/>
          </p:cNvSpPr>
          <p:nvPr/>
        </p:nvSpPr>
        <p:spPr>
          <a:xfrm>
            <a:off x="8743103" y="2177492"/>
            <a:ext cx="60960" cy="60960"/>
          </a:xfrm>
          <a:prstGeom prst="rect">
            <a:avLst/>
          </a:prstGeom>
          <a:solidFill>
            <a:srgbClr val="078C98"/>
          </a:solidFill>
          <a:ln w="0">
            <a:solidFill>
              <a:srgbClr val="078C9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7315661B-BB0A-412F-99C7-520E9C054D5E}"/>
              </a:ext>
            </a:extLst>
          </p:cNvPr>
          <p:cNvSpPr>
            <a:spLocks noGrp="1"/>
          </p:cNvSpPr>
          <p:nvPr/>
        </p:nvSpPr>
        <p:spPr>
          <a:xfrm>
            <a:off x="8891270" y="2298388"/>
            <a:ext cx="60960" cy="60960"/>
          </a:xfrm>
          <a:prstGeom prst="rect">
            <a:avLst/>
          </a:prstGeom>
          <a:solidFill>
            <a:srgbClr val="078C98"/>
          </a:solidFill>
          <a:ln w="0">
            <a:solidFill>
              <a:srgbClr val="078C9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D6486C69-74CE-440A-81B0-47B27C99438C}"/>
              </a:ext>
            </a:extLst>
          </p:cNvPr>
          <p:cNvSpPr>
            <a:spLocks noGrp="1"/>
          </p:cNvSpPr>
          <p:nvPr/>
        </p:nvSpPr>
        <p:spPr>
          <a:xfrm>
            <a:off x="9039437" y="2454140"/>
            <a:ext cx="60960" cy="60960"/>
          </a:xfrm>
          <a:prstGeom prst="rect">
            <a:avLst/>
          </a:prstGeom>
          <a:solidFill>
            <a:srgbClr val="078C98"/>
          </a:solidFill>
          <a:ln w="0">
            <a:solidFill>
              <a:srgbClr val="078C9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C6D141BE-320B-4A58-9AC0-E7A272CF8702}"/>
              </a:ext>
            </a:extLst>
          </p:cNvPr>
          <p:cNvSpPr>
            <a:spLocks noGrp="1"/>
          </p:cNvSpPr>
          <p:nvPr/>
        </p:nvSpPr>
        <p:spPr>
          <a:xfrm>
            <a:off x="9187603" y="2633380"/>
            <a:ext cx="60960" cy="60960"/>
          </a:xfrm>
          <a:prstGeom prst="rect">
            <a:avLst/>
          </a:prstGeom>
          <a:solidFill>
            <a:srgbClr val="078C98"/>
          </a:solidFill>
          <a:ln w="0">
            <a:solidFill>
              <a:srgbClr val="078C9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DE151305-1C04-4DDC-B7AB-BD7D2460919F}"/>
              </a:ext>
            </a:extLst>
          </p:cNvPr>
          <p:cNvSpPr>
            <a:spLocks noGrp="1"/>
          </p:cNvSpPr>
          <p:nvPr/>
        </p:nvSpPr>
        <p:spPr>
          <a:xfrm>
            <a:off x="9335770" y="2824104"/>
            <a:ext cx="60960" cy="60960"/>
          </a:xfrm>
          <a:prstGeom prst="rect">
            <a:avLst/>
          </a:prstGeom>
          <a:solidFill>
            <a:srgbClr val="078C98"/>
          </a:solidFill>
          <a:ln w="0">
            <a:solidFill>
              <a:srgbClr val="078C9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575CC91F-CB91-4987-B69C-587BF925ABC0}"/>
              </a:ext>
            </a:extLst>
          </p:cNvPr>
          <p:cNvSpPr>
            <a:spLocks noGrp="1"/>
          </p:cNvSpPr>
          <p:nvPr/>
        </p:nvSpPr>
        <p:spPr>
          <a:xfrm>
            <a:off x="9483937" y="3014976"/>
            <a:ext cx="60960" cy="60960"/>
          </a:xfrm>
          <a:prstGeom prst="rect">
            <a:avLst/>
          </a:prstGeom>
          <a:solidFill>
            <a:srgbClr val="078C98"/>
          </a:solidFill>
          <a:ln w="0">
            <a:solidFill>
              <a:srgbClr val="078C9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6AF3C947-1ACE-4D59-B2A4-B34FE1F98746}"/>
              </a:ext>
            </a:extLst>
          </p:cNvPr>
          <p:cNvSpPr>
            <a:spLocks noGrp="1"/>
          </p:cNvSpPr>
          <p:nvPr/>
        </p:nvSpPr>
        <p:spPr>
          <a:xfrm>
            <a:off x="9632103" y="3196376"/>
            <a:ext cx="60960" cy="60960"/>
          </a:xfrm>
          <a:prstGeom prst="rect">
            <a:avLst/>
          </a:prstGeom>
          <a:solidFill>
            <a:srgbClr val="078C98"/>
          </a:solidFill>
          <a:ln w="0">
            <a:solidFill>
              <a:srgbClr val="078C9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3F29A861-DBEA-4931-A136-9CF5BCD077FE}"/>
              </a:ext>
            </a:extLst>
          </p:cNvPr>
          <p:cNvSpPr>
            <a:spLocks noGrp="1"/>
          </p:cNvSpPr>
          <p:nvPr/>
        </p:nvSpPr>
        <p:spPr>
          <a:xfrm>
            <a:off x="9780270" y="3361082"/>
            <a:ext cx="60960" cy="60960"/>
          </a:xfrm>
          <a:prstGeom prst="rect">
            <a:avLst/>
          </a:prstGeom>
          <a:solidFill>
            <a:srgbClr val="078C98"/>
          </a:solidFill>
          <a:ln w="0">
            <a:solidFill>
              <a:srgbClr val="078C9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5A2EBC46-6A72-4409-9A1F-146444CC4CC8}"/>
              </a:ext>
            </a:extLst>
          </p:cNvPr>
          <p:cNvSpPr>
            <a:spLocks noGrp="1"/>
          </p:cNvSpPr>
          <p:nvPr/>
        </p:nvSpPr>
        <p:spPr>
          <a:xfrm>
            <a:off x="9928437" y="3504529"/>
            <a:ext cx="60960" cy="60960"/>
          </a:xfrm>
          <a:prstGeom prst="rect">
            <a:avLst/>
          </a:prstGeom>
          <a:solidFill>
            <a:srgbClr val="078C98"/>
          </a:solidFill>
          <a:ln w="0">
            <a:solidFill>
              <a:srgbClr val="078C9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9557C389-AC9A-4F78-BC13-8BBC87E9D8DC}"/>
              </a:ext>
            </a:extLst>
          </p:cNvPr>
          <p:cNvSpPr>
            <a:spLocks noGrp="1"/>
          </p:cNvSpPr>
          <p:nvPr/>
        </p:nvSpPr>
        <p:spPr>
          <a:xfrm>
            <a:off x="10076603" y="3624700"/>
            <a:ext cx="60960" cy="60960"/>
          </a:xfrm>
          <a:prstGeom prst="rect">
            <a:avLst/>
          </a:prstGeom>
          <a:solidFill>
            <a:srgbClr val="078C98"/>
          </a:solidFill>
          <a:ln w="0">
            <a:solidFill>
              <a:srgbClr val="078C9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22CEAE2E-4471-4948-9F22-D5744F61CDE4}"/>
              </a:ext>
            </a:extLst>
          </p:cNvPr>
          <p:cNvSpPr>
            <a:spLocks noGrp="1"/>
          </p:cNvSpPr>
          <p:nvPr/>
        </p:nvSpPr>
        <p:spPr>
          <a:xfrm>
            <a:off x="10224770" y="3721731"/>
            <a:ext cx="60960" cy="60960"/>
          </a:xfrm>
          <a:prstGeom prst="rect">
            <a:avLst/>
          </a:prstGeom>
          <a:solidFill>
            <a:srgbClr val="078C98"/>
          </a:solidFill>
          <a:ln w="0">
            <a:solidFill>
              <a:srgbClr val="078C9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0F188499-57A5-40E1-90C4-0920EB4825E1}"/>
              </a:ext>
            </a:extLst>
          </p:cNvPr>
          <p:cNvSpPr>
            <a:spLocks noGrp="1"/>
          </p:cNvSpPr>
          <p:nvPr/>
        </p:nvSpPr>
        <p:spPr>
          <a:xfrm>
            <a:off x="10372937" y="3797361"/>
            <a:ext cx="60960" cy="60960"/>
          </a:xfrm>
          <a:prstGeom prst="rect">
            <a:avLst/>
          </a:prstGeom>
          <a:solidFill>
            <a:srgbClr val="078C98"/>
          </a:solidFill>
          <a:ln w="0">
            <a:solidFill>
              <a:srgbClr val="078C9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D82DD11B-AED4-42F9-9E79-21C2F1B3CA0A}"/>
              </a:ext>
            </a:extLst>
          </p:cNvPr>
          <p:cNvSpPr>
            <a:spLocks noGrp="1"/>
          </p:cNvSpPr>
          <p:nvPr/>
        </p:nvSpPr>
        <p:spPr>
          <a:xfrm>
            <a:off x="10521103" y="3854332"/>
            <a:ext cx="60960" cy="60960"/>
          </a:xfrm>
          <a:prstGeom prst="rect">
            <a:avLst/>
          </a:prstGeom>
          <a:solidFill>
            <a:srgbClr val="078C98"/>
          </a:solidFill>
          <a:ln w="0">
            <a:solidFill>
              <a:srgbClr val="078C9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6B6E9746-F740-4FC2-B9C0-91FCC725083A}"/>
              </a:ext>
            </a:extLst>
          </p:cNvPr>
          <p:cNvSpPr>
            <a:spLocks noGrp="1"/>
          </p:cNvSpPr>
          <p:nvPr/>
        </p:nvSpPr>
        <p:spPr>
          <a:xfrm>
            <a:off x="10669270" y="3895845"/>
            <a:ext cx="60960" cy="60960"/>
          </a:xfrm>
          <a:prstGeom prst="rect">
            <a:avLst/>
          </a:prstGeom>
          <a:solidFill>
            <a:srgbClr val="078C98"/>
          </a:solidFill>
          <a:ln w="0">
            <a:solidFill>
              <a:srgbClr val="078C9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4FF8F817-17B2-43DC-BCA2-8BAFCC60AF78}"/>
              </a:ext>
            </a:extLst>
          </p:cNvPr>
          <p:cNvSpPr>
            <a:spLocks noGrp="1"/>
          </p:cNvSpPr>
          <p:nvPr/>
        </p:nvSpPr>
        <p:spPr>
          <a:xfrm>
            <a:off x="10817437" y="3925128"/>
            <a:ext cx="60960" cy="60960"/>
          </a:xfrm>
          <a:prstGeom prst="rect">
            <a:avLst/>
          </a:prstGeom>
          <a:solidFill>
            <a:srgbClr val="078C98"/>
          </a:solidFill>
          <a:ln w="0">
            <a:solidFill>
              <a:srgbClr val="078C9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37CB9D95-34F4-44D7-9361-683048AC4409}"/>
              </a:ext>
            </a:extLst>
          </p:cNvPr>
          <p:cNvSpPr>
            <a:spLocks noGrp="1"/>
          </p:cNvSpPr>
          <p:nvPr/>
        </p:nvSpPr>
        <p:spPr>
          <a:xfrm>
            <a:off x="10965603" y="3945135"/>
            <a:ext cx="60960" cy="60960"/>
          </a:xfrm>
          <a:prstGeom prst="rect">
            <a:avLst/>
          </a:prstGeom>
          <a:solidFill>
            <a:srgbClr val="078C98"/>
          </a:solidFill>
          <a:ln w="0">
            <a:solidFill>
              <a:srgbClr val="078C9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A8D67EDD-9417-4E3B-8386-75ED0B88E00A}"/>
              </a:ext>
            </a:extLst>
          </p:cNvPr>
          <p:cNvSpPr>
            <a:spLocks noGrp="1"/>
          </p:cNvSpPr>
          <p:nvPr/>
        </p:nvSpPr>
        <p:spPr>
          <a:xfrm>
            <a:off x="11113770" y="3958382"/>
            <a:ext cx="60960" cy="60960"/>
          </a:xfrm>
          <a:prstGeom prst="rect">
            <a:avLst/>
          </a:prstGeom>
          <a:solidFill>
            <a:srgbClr val="078C98"/>
          </a:solidFill>
          <a:ln w="0">
            <a:solidFill>
              <a:srgbClr val="078C9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F184BBA4-32C7-4F06-99C5-42C8EE20DC78}"/>
              </a:ext>
            </a:extLst>
          </p:cNvPr>
          <p:cNvSpPr>
            <a:spLocks noGrp="1"/>
          </p:cNvSpPr>
          <p:nvPr/>
        </p:nvSpPr>
        <p:spPr>
          <a:xfrm>
            <a:off x="5810250" y="2943225"/>
            <a:ext cx="889000" cy="85725"/>
          </a:xfrm>
          <a:prstGeom prst="rect">
            <a:avLst/>
          </a:prstGeom>
          <a:solidFill>
            <a:srgbClr val="E218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A7ECE82-B5AA-466E-A9B2-08DBDA33150C}"/>
              </a:ext>
            </a:extLst>
          </p:cNvPr>
          <p:cNvSpPr>
            <a:spLocks noGrp="1"/>
          </p:cNvSpPr>
          <p:nvPr/>
        </p:nvSpPr>
        <p:spPr>
          <a:xfrm>
            <a:off x="6699250" y="2943225"/>
            <a:ext cx="889000" cy="85725"/>
          </a:xfrm>
          <a:prstGeom prst="rect">
            <a:avLst/>
          </a:prstGeom>
          <a:solidFill>
            <a:srgbClr val="FF3B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DAB8E9CC-A821-4E48-89FF-011A8AD1E6F0}"/>
              </a:ext>
            </a:extLst>
          </p:cNvPr>
          <p:cNvSpPr>
            <a:spLocks noGrp="1"/>
          </p:cNvSpPr>
          <p:nvPr/>
        </p:nvSpPr>
        <p:spPr>
          <a:xfrm>
            <a:off x="7588250" y="2943225"/>
            <a:ext cx="3556000" cy="85725"/>
          </a:xfrm>
          <a:prstGeom prst="rect">
            <a:avLst/>
          </a:prstGeom>
          <a:solidFill>
            <a:srgbClr val="04A6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7C45D39D-97AE-4144-AE9D-BFE4A024CDC0}"/>
              </a:ext>
            </a:extLst>
          </p:cNvPr>
          <p:cNvSpPr>
            <a:spLocks noGrp="1"/>
          </p:cNvSpPr>
          <p:nvPr/>
        </p:nvSpPr>
        <p:spPr>
          <a:xfrm>
            <a:off x="5848350" y="2390775"/>
            <a:ext cx="11239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E218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E2187A"/>
                </a:solidFill>
                <a:latin typeface="Apple SD Gothic Neo"/>
                <a:ea typeface="Apple SD Gothic Neo"/>
                <a:cs typeface="Apple SD Gothic Neo"/>
              </a:rPr>
              <a:t>2.28%</a:t>
            </a:r>
          </a:p>
          <a:p>
            <a:pPr algn="ctr">
              <a:defRPr sz="1425" b="1">
                <a:solidFill>
                  <a:srgbClr val="E218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E2187A"/>
                </a:solidFill>
                <a:latin typeface="Apple SD Gothic Neo"/>
                <a:ea typeface="Apple SD Gothic Neo"/>
                <a:cs typeface="Apple SD Gothic Neo"/>
              </a:rPr>
              <a:t>지적장애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A7C12345-AB26-43B2-ADC8-CC23ABA573FA}"/>
              </a:ext>
            </a:extLst>
          </p:cNvPr>
          <p:cNvSpPr>
            <a:spLocks noGrp="1"/>
          </p:cNvSpPr>
          <p:nvPr/>
        </p:nvSpPr>
        <p:spPr>
          <a:xfrm>
            <a:off x="6775450" y="2390775"/>
            <a:ext cx="11239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FF3B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F3B1F"/>
                </a:solidFill>
                <a:latin typeface="Apple SD Gothic Neo"/>
                <a:ea typeface="Apple SD Gothic Neo"/>
                <a:cs typeface="Apple SD Gothic Neo"/>
              </a:rPr>
              <a:t>13.59%</a:t>
            </a:r>
          </a:p>
          <a:p>
            <a:pPr algn="ctr">
              <a:defRPr sz="1425" b="1">
                <a:solidFill>
                  <a:srgbClr val="FF3B1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F3B1F"/>
                </a:solidFill>
                <a:latin typeface="Apple SD Gothic Neo"/>
                <a:ea typeface="Apple SD Gothic Neo"/>
                <a:cs typeface="Apple SD Gothic Neo"/>
              </a:rPr>
              <a:t>경계선 지능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FCC1EEB0-76E8-4097-880A-64584EA12A51}"/>
              </a:ext>
            </a:extLst>
          </p:cNvPr>
          <p:cNvSpPr>
            <a:spLocks noGrp="1"/>
          </p:cNvSpPr>
          <p:nvPr/>
        </p:nvSpPr>
        <p:spPr>
          <a:xfrm>
            <a:off x="8595783" y="2409825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4A6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4A6C8"/>
                </a:solidFill>
                <a:latin typeface="Apple SD Gothic Neo"/>
                <a:ea typeface="Apple SD Gothic Neo"/>
                <a:cs typeface="Apple SD Gothic Neo"/>
              </a:rPr>
              <a:t>표준 이상</a:t>
            </a: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D4703259-E476-459C-B4BA-19DBC5E17301}"/>
              </a:ext>
            </a:extLst>
          </p:cNvPr>
          <p:cNvSpPr>
            <a:spLocks noGrp="1"/>
          </p:cNvSpPr>
          <p:nvPr/>
        </p:nvSpPr>
        <p:spPr>
          <a:xfrm>
            <a:off x="5810250" y="5353050"/>
            <a:ext cx="5334000" cy="819150"/>
          </a:xfrm>
          <a:prstGeom prst="rect">
            <a:avLst/>
          </a:prstGeom>
          <a:solidFill>
            <a:srgbClr val="FFD7C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20670BB8-96D5-415A-B4E9-8AC32E3FEB5F}"/>
              </a:ext>
            </a:extLst>
          </p:cNvPr>
          <p:cNvSpPr>
            <a:spLocks noGrp="1"/>
          </p:cNvSpPr>
          <p:nvPr/>
        </p:nvSpPr>
        <p:spPr>
          <a:xfrm>
            <a:off x="5981700" y="5524500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75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국민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7E945C05-9912-44A2-BE77-ADD996E2E46A}"/>
              </a:ext>
            </a:extLst>
          </p:cNvPr>
          <p:cNvSpPr>
            <a:spLocks noGrp="1"/>
          </p:cNvSpPr>
          <p:nvPr/>
        </p:nvSpPr>
        <p:spPr>
          <a:xfrm>
            <a:off x="6743700" y="5543550"/>
            <a:ext cx="4000500" cy="209550"/>
          </a:xfrm>
          <a:prstGeom prst="rect">
            <a:avLst/>
          </a:prstGeom>
          <a:solidFill>
            <a:srgbClr val="FF2D1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BC833864-3942-43B3-9B6D-A31F552FFB5B}"/>
              </a:ext>
            </a:extLst>
          </p:cNvPr>
          <p:cNvSpPr>
            <a:spLocks noGrp="1"/>
          </p:cNvSpPr>
          <p:nvPr/>
        </p:nvSpPr>
        <p:spPr>
          <a:xfrm>
            <a:off x="9715500" y="5534025"/>
            <a:ext cx="1257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697만명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AA27618D-E434-42E7-8B36-295145098B2A}"/>
              </a:ext>
            </a:extLst>
          </p:cNvPr>
          <p:cNvSpPr>
            <a:spLocks noGrp="1"/>
          </p:cNvSpPr>
          <p:nvPr/>
        </p:nvSpPr>
        <p:spPr>
          <a:xfrm>
            <a:off x="5981700" y="5829300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75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초중고생</a:t>
            </a: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1FA5FD7B-EC9A-4E3E-94CC-CD0CD37D0F3A}"/>
              </a:ext>
            </a:extLst>
          </p:cNvPr>
          <p:cNvSpPr>
            <a:spLocks noGrp="1"/>
          </p:cNvSpPr>
          <p:nvPr/>
        </p:nvSpPr>
        <p:spPr>
          <a:xfrm>
            <a:off x="6743700" y="5848350"/>
            <a:ext cx="720090" cy="209550"/>
          </a:xfrm>
          <a:prstGeom prst="rect">
            <a:avLst/>
          </a:prstGeom>
          <a:solidFill>
            <a:srgbClr val="FF2D1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9FC2589D-4FAC-454B-AD8F-B7B531A7B61C}"/>
              </a:ext>
            </a:extLst>
          </p:cNvPr>
          <p:cNvSpPr>
            <a:spLocks noGrp="1"/>
          </p:cNvSpPr>
          <p:nvPr/>
        </p:nvSpPr>
        <p:spPr>
          <a:xfrm>
            <a:off x="9715500" y="5838825"/>
            <a:ext cx="1257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75" b="1">
                <a:solidFill>
                  <a:srgbClr val="FF2D1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2D13"/>
                </a:solidFill>
                <a:latin typeface="Apple SD Gothic Neo"/>
                <a:ea typeface="Apple SD Gothic Neo"/>
                <a:cs typeface="Apple SD Gothic Neo"/>
              </a:rPr>
              <a:t>78만명</a:t>
            </a: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07148209-4516-43BD-B9E2-78958695322E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571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rPr>
              <a:t>자료: 교육부 추정, The JoongAng 보도 그래픽 재구성</a:t>
            </a:r>
          </a:p>
        </p:txBody>
      </p:sp>
    </p:spTree>
    <p:extLst>
      <p:ext uri="{BB962C8B-B14F-4D97-AF65-F5344CB8AC3E}">
        <p14:creationId xmlns:p14="http://schemas.microsoft.com/office/powerpoint/2010/main" val="1448933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직사각형 45">
            <a:extLst>
              <a:ext uri="{FF2B5EF4-FFF2-40B4-BE49-F238E27FC236}">
                <a16:creationId xmlns:a16="http://schemas.microsoft.com/office/drawing/2014/main" id="{A8024F65-34AD-4D2A-A312-96A92820C05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E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EF524D0-B931-46D5-93B5-0FD9E61D18C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FF6B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51B6C3D-E2A8-46BC-8966-9F1A5D6D3990}"/>
              </a:ext>
            </a:extLst>
          </p:cNvPr>
          <p:cNvSpPr>
            <a:spLocks noGrp="1"/>
          </p:cNvSpPr>
          <p:nvPr/>
        </p:nvSpPr>
        <p:spPr>
          <a:xfrm>
            <a:off x="9810750" y="495300"/>
            <a:ext cx="1809750" cy="1809750"/>
          </a:xfrm>
          <a:prstGeom prst="rect">
            <a:avLst/>
          </a:prstGeom>
          <a:solidFill>
            <a:srgbClr val="FFF1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437E93E-74D9-4F2D-8A5B-71FDC87C8DC3}"/>
              </a:ext>
            </a:extLst>
          </p:cNvPr>
          <p:cNvSpPr>
            <a:spLocks noGrp="1"/>
          </p:cNvSpPr>
          <p:nvPr/>
        </p:nvSpPr>
        <p:spPr>
          <a:xfrm>
            <a:off x="361950" y="5810250"/>
            <a:ext cx="1524000" cy="666750"/>
          </a:xfrm>
          <a:prstGeom prst="rect">
            <a:avLst/>
          </a:prstGeom>
          <a:solidFill>
            <a:srgbClr val="FFF7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2C0E54D-5EF0-4262-8FBE-A448848AF6C8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14300" cy="361950"/>
          </a:xfrm>
          <a:prstGeom prst="rect">
            <a:avLst/>
          </a:prstGeom>
          <a:solidFill>
            <a:srgbClr val="FF6B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134BD45-DAD7-477A-B4CA-68381F6DAF3E}"/>
              </a:ext>
            </a:extLst>
          </p:cNvPr>
          <p:cNvSpPr>
            <a:spLocks noGrp="1"/>
          </p:cNvSpPr>
          <p:nvPr/>
        </p:nvSpPr>
        <p:spPr>
          <a:xfrm>
            <a:off x="914400" y="457200"/>
            <a:ext cx="5334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소외의 구조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CDBB8E3-AEF8-433B-B076-232C11ABB3F3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5429250" cy="2000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50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defRPr>
            </a:pPr>
            <a:r>
              <a:rPr sz="450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700만 명은</a:t>
            </a:r>
          </a:p>
          <a:p>
            <a:pPr algn="l">
              <a:defRPr sz="450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defRPr>
            </a:pPr>
            <a:r>
              <a:rPr sz="450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왜 제도 밖에</a:t>
            </a:r>
          </a:p>
          <a:p>
            <a:pPr algn="l">
              <a:defRPr sz="450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defRPr>
            </a:pPr>
            <a:r>
              <a:rPr sz="450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남아 있나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F71489E-47D8-49B0-AC25-22A12061A2C0}"/>
              </a:ext>
            </a:extLst>
          </p:cNvPr>
          <p:cNvSpPr>
            <a:spLocks noGrp="1"/>
          </p:cNvSpPr>
          <p:nvPr/>
        </p:nvSpPr>
        <p:spPr>
          <a:xfrm>
            <a:off x="685800" y="3238500"/>
            <a:ext cx="53340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느린학습자의 어려움은 겉으로 잘 보이지 않습니다.</a:t>
            </a:r>
          </a:p>
          <a:p>
            <a:pPr algn="l">
              <a:defRPr sz="1800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그래서 제도는 “지원이 필요한 사람”으로 보지 못하고,</a:t>
            </a:r>
          </a:p>
          <a:p>
            <a:pPr algn="l">
              <a:defRPr sz="1800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기준 · 법 · 지역의 틈 사이로 밀어냅니다.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C869FAE-0596-4892-8DD0-6A62F90C036E}"/>
              </a:ext>
            </a:extLst>
          </p:cNvPr>
          <p:cNvSpPr>
            <a:spLocks noGrp="1"/>
          </p:cNvSpPr>
          <p:nvPr/>
        </p:nvSpPr>
        <p:spPr>
          <a:xfrm>
            <a:off x="685800" y="4781550"/>
            <a:ext cx="11049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9B10308-2C2F-442F-B015-52B5AB7B9E53}"/>
              </a:ext>
            </a:extLst>
          </p:cNvPr>
          <p:cNvSpPr>
            <a:spLocks noGrp="1"/>
          </p:cNvSpPr>
          <p:nvPr/>
        </p:nvSpPr>
        <p:spPr>
          <a:xfrm>
            <a:off x="800100" y="4953000"/>
            <a:ext cx="876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13.6%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88FC1F0-9A6B-4E5A-A76E-968A01F73C0F}"/>
              </a:ext>
            </a:extLst>
          </p:cNvPr>
          <p:cNvSpPr>
            <a:spLocks noGrp="1"/>
          </p:cNvSpPr>
          <p:nvPr/>
        </p:nvSpPr>
        <p:spPr>
          <a:xfrm>
            <a:off x="800100" y="5295900"/>
            <a:ext cx="876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대한민국 인구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FB10DE3-AB77-4BB8-98F7-22DA68900F1C}"/>
              </a:ext>
            </a:extLst>
          </p:cNvPr>
          <p:cNvSpPr>
            <a:spLocks noGrp="1"/>
          </p:cNvSpPr>
          <p:nvPr/>
        </p:nvSpPr>
        <p:spPr>
          <a:xfrm>
            <a:off x="1885950" y="4781550"/>
            <a:ext cx="1104900" cy="838200"/>
          </a:xfrm>
          <a:prstGeom prst="rect">
            <a:avLst/>
          </a:prstGeom>
          <a:solidFill>
            <a:srgbClr val="FFF3C4"/>
          </a:solidFill>
          <a:ln w="9525">
            <a:solidFill>
              <a:srgbClr val="F5C8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599533E-8970-4600-8E9B-BE1F0BFBF9F9}"/>
              </a:ext>
            </a:extLst>
          </p:cNvPr>
          <p:cNvSpPr>
            <a:spLocks noGrp="1"/>
          </p:cNvSpPr>
          <p:nvPr/>
        </p:nvSpPr>
        <p:spPr>
          <a:xfrm>
            <a:off x="2000250" y="4953000"/>
            <a:ext cx="876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FF2D1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2D13"/>
                </a:solidFill>
                <a:latin typeface="Apple SD Gothic Neo"/>
                <a:ea typeface="Apple SD Gothic Neo"/>
                <a:cs typeface="Apple SD Gothic Neo"/>
              </a:rPr>
              <a:t>700만 명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8843710-91B1-45F9-B97C-3EB40016755E}"/>
              </a:ext>
            </a:extLst>
          </p:cNvPr>
          <p:cNvSpPr>
            <a:spLocks noGrp="1"/>
          </p:cNvSpPr>
          <p:nvPr/>
        </p:nvSpPr>
        <p:spPr>
          <a:xfrm>
            <a:off x="2000250" y="5295900"/>
            <a:ext cx="876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추정 대상 규모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600EB03-D014-4F4C-A7FB-7FA6947D6A9D}"/>
              </a:ext>
            </a:extLst>
          </p:cNvPr>
          <p:cNvSpPr>
            <a:spLocks noGrp="1"/>
          </p:cNvSpPr>
          <p:nvPr/>
        </p:nvSpPr>
        <p:spPr>
          <a:xfrm>
            <a:off x="3086100" y="4781550"/>
            <a:ext cx="11049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49591CD-E3E1-4A8C-A346-C404370A37D6}"/>
              </a:ext>
            </a:extLst>
          </p:cNvPr>
          <p:cNvSpPr>
            <a:spLocks noGrp="1"/>
          </p:cNvSpPr>
          <p:nvPr/>
        </p:nvSpPr>
        <p:spPr>
          <a:xfrm>
            <a:off x="3200400" y="4953000"/>
            <a:ext cx="876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30명 중 4명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9565A1B-89BB-4BF7-A55D-45CCB29B41C1}"/>
              </a:ext>
            </a:extLst>
          </p:cNvPr>
          <p:cNvSpPr>
            <a:spLocks noGrp="1"/>
          </p:cNvSpPr>
          <p:nvPr/>
        </p:nvSpPr>
        <p:spPr>
          <a:xfrm>
            <a:off x="3200400" y="5295900"/>
            <a:ext cx="876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교실 안 비율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80B778A-D68B-4CF6-AD5F-A694F73CE1DF}"/>
              </a:ext>
            </a:extLst>
          </p:cNvPr>
          <p:cNvSpPr>
            <a:spLocks noGrp="1"/>
          </p:cNvSpPr>
          <p:nvPr/>
        </p:nvSpPr>
        <p:spPr>
          <a:xfrm>
            <a:off x="4286250" y="4781550"/>
            <a:ext cx="11049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5154BE8-F153-446C-B31C-2A0140487CC3}"/>
              </a:ext>
            </a:extLst>
          </p:cNvPr>
          <p:cNvSpPr>
            <a:spLocks noGrp="1"/>
          </p:cNvSpPr>
          <p:nvPr/>
        </p:nvSpPr>
        <p:spPr>
          <a:xfrm>
            <a:off x="4400550" y="4953000"/>
            <a:ext cx="876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소대 중 3~4명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810A214-4366-4CCE-929B-D8C75EF3568B}"/>
              </a:ext>
            </a:extLst>
          </p:cNvPr>
          <p:cNvSpPr>
            <a:spLocks noGrp="1"/>
          </p:cNvSpPr>
          <p:nvPr/>
        </p:nvSpPr>
        <p:spPr>
          <a:xfrm>
            <a:off x="4400550" y="5295900"/>
            <a:ext cx="876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일상 조직 안 비율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68C33EB-F7EC-4138-9156-B46F7FAA145C}"/>
              </a:ext>
            </a:extLst>
          </p:cNvPr>
          <p:cNvSpPr>
            <a:spLocks noGrp="1"/>
          </p:cNvSpPr>
          <p:nvPr/>
        </p:nvSpPr>
        <p:spPr>
          <a:xfrm>
            <a:off x="6143625" y="1047750"/>
            <a:ext cx="4762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소외는 개인 문제가 아니라</a:t>
            </a:r>
          </a:p>
          <a:p>
            <a:pPr algn="l">
              <a:defRPr sz="21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지원 체계의 빈칸에서 생깁니다.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D4ABCA0-2E0C-49CD-8A73-25EE8A8363C4}"/>
              </a:ext>
            </a:extLst>
          </p:cNvPr>
          <p:cNvSpPr>
            <a:spLocks noGrp="1"/>
          </p:cNvSpPr>
          <p:nvPr/>
        </p:nvSpPr>
        <p:spPr>
          <a:xfrm>
            <a:off x="6143625" y="2143125"/>
            <a:ext cx="1600200" cy="2933700"/>
          </a:xfrm>
          <a:prstGeom prst="rect">
            <a:avLst/>
          </a:prstGeom>
          <a:solidFill>
            <a:srgbClr val="FFF8D9"/>
          </a:solidFill>
          <a:ln w="9525">
            <a:solidFill>
              <a:srgbClr val="D9E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9EEF896-BE99-41B6-9A91-89ADDA2CEA01}"/>
              </a:ext>
            </a:extLst>
          </p:cNvPr>
          <p:cNvSpPr>
            <a:spLocks noGrp="1"/>
          </p:cNvSpPr>
          <p:nvPr/>
        </p:nvSpPr>
        <p:spPr>
          <a:xfrm>
            <a:off x="6143625" y="2143125"/>
            <a:ext cx="1600200" cy="114300"/>
          </a:xfrm>
          <a:prstGeom prst="rect">
            <a:avLst/>
          </a:prstGeom>
          <a:solidFill>
            <a:srgbClr val="FF2D1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CD640F3-E200-4C7B-A4AB-C7E066226A5F}"/>
              </a:ext>
            </a:extLst>
          </p:cNvPr>
          <p:cNvSpPr>
            <a:spLocks noGrp="1"/>
          </p:cNvSpPr>
          <p:nvPr/>
        </p:nvSpPr>
        <p:spPr>
          <a:xfrm>
            <a:off x="6315075" y="2400300"/>
            <a:ext cx="1257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F2D1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F2D13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2CFE2CB-9E89-45EF-B1B9-930357B9F015}"/>
              </a:ext>
            </a:extLst>
          </p:cNvPr>
          <p:cNvSpPr>
            <a:spLocks noGrp="1"/>
          </p:cNvSpPr>
          <p:nvPr/>
        </p:nvSpPr>
        <p:spPr>
          <a:xfrm>
            <a:off x="6296025" y="2762250"/>
            <a:ext cx="12954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법적 기준의 절벽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3FA485A-4681-43A6-9C35-3D565AF20276}"/>
              </a:ext>
            </a:extLst>
          </p:cNvPr>
          <p:cNvSpPr>
            <a:spLocks noGrp="1"/>
          </p:cNvSpPr>
          <p:nvPr/>
        </p:nvSpPr>
        <p:spPr>
          <a:xfrm>
            <a:off x="6353175" y="3448050"/>
            <a:ext cx="1181100" cy="14288"/>
          </a:xfrm>
          <a:prstGeom prst="rect">
            <a:avLst/>
          </a:prstGeom>
          <a:solidFill>
            <a:srgbClr val="C8D8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9618B79-3650-4CCE-84DF-4ABEBA4F8479}"/>
              </a:ext>
            </a:extLst>
          </p:cNvPr>
          <p:cNvSpPr>
            <a:spLocks noGrp="1"/>
          </p:cNvSpPr>
          <p:nvPr/>
        </p:nvSpPr>
        <p:spPr>
          <a:xfrm>
            <a:off x="6296025" y="3638550"/>
            <a:ext cx="12954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IQ 70 이하는 지적장애 기준,</a:t>
            </a:r>
          </a:p>
          <a:p>
            <a:pPr algn="ctr">
              <a:defRPr sz="11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IQ 71~84는 법정 장애 범주 밖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B65CC0B-945D-4B61-9BE7-FD33B163C2E8}"/>
              </a:ext>
            </a:extLst>
          </p:cNvPr>
          <p:cNvSpPr>
            <a:spLocks noGrp="1"/>
          </p:cNvSpPr>
          <p:nvPr/>
        </p:nvSpPr>
        <p:spPr>
          <a:xfrm>
            <a:off x="6296025" y="4457700"/>
            <a:ext cx="12954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1점 차이가 통계 · 예산 · 복지의 경계가 됩니다.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B1D17C1-47B2-4D0F-80CE-CB7AD6995C58}"/>
              </a:ext>
            </a:extLst>
          </p:cNvPr>
          <p:cNvSpPr>
            <a:spLocks noGrp="1"/>
          </p:cNvSpPr>
          <p:nvPr/>
        </p:nvSpPr>
        <p:spPr>
          <a:xfrm>
            <a:off x="7934325" y="2143125"/>
            <a:ext cx="1600200" cy="2933700"/>
          </a:xfrm>
          <a:prstGeom prst="rect">
            <a:avLst/>
          </a:prstGeom>
          <a:solidFill>
            <a:srgbClr val="EAF7FF"/>
          </a:solidFill>
          <a:ln w="9525">
            <a:solidFill>
              <a:srgbClr val="D9E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5D50253-1C3B-4903-AF0E-F8F74CC5386D}"/>
              </a:ext>
            </a:extLst>
          </p:cNvPr>
          <p:cNvSpPr>
            <a:spLocks noGrp="1"/>
          </p:cNvSpPr>
          <p:nvPr/>
        </p:nvSpPr>
        <p:spPr>
          <a:xfrm>
            <a:off x="7934325" y="2143125"/>
            <a:ext cx="1600200" cy="114300"/>
          </a:xfrm>
          <a:prstGeom prst="rect">
            <a:avLst/>
          </a:prstGeom>
          <a:solidFill>
            <a:srgbClr val="04A6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C82B899-E4A3-4096-8A31-BBFA1458DA07}"/>
              </a:ext>
            </a:extLst>
          </p:cNvPr>
          <p:cNvSpPr>
            <a:spLocks noGrp="1"/>
          </p:cNvSpPr>
          <p:nvPr/>
        </p:nvSpPr>
        <p:spPr>
          <a:xfrm>
            <a:off x="8105775" y="2400300"/>
            <a:ext cx="1257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04A6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4A6C8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5F6EFEC-C614-490C-B8EE-54FE4B1A2530}"/>
              </a:ext>
            </a:extLst>
          </p:cNvPr>
          <p:cNvSpPr>
            <a:spLocks noGrp="1"/>
          </p:cNvSpPr>
          <p:nvPr/>
        </p:nvSpPr>
        <p:spPr>
          <a:xfrm>
            <a:off x="8086725" y="2762250"/>
            <a:ext cx="12954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11번의 시도,</a:t>
            </a:r>
          </a:p>
          <a:p>
            <a:pPr algn="ctr">
              <a:defRPr sz="16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통과 0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FB52595-A3D1-4AE1-AF41-E5D9FCF2F1A8}"/>
              </a:ext>
            </a:extLst>
          </p:cNvPr>
          <p:cNvSpPr>
            <a:spLocks noGrp="1"/>
          </p:cNvSpPr>
          <p:nvPr/>
        </p:nvSpPr>
        <p:spPr>
          <a:xfrm>
            <a:off x="8143875" y="3448050"/>
            <a:ext cx="1181100" cy="14288"/>
          </a:xfrm>
          <a:prstGeom prst="rect">
            <a:avLst/>
          </a:prstGeom>
          <a:solidFill>
            <a:srgbClr val="C8D8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A81116B-2445-4238-9B00-2BE72BF4936D}"/>
              </a:ext>
            </a:extLst>
          </p:cNvPr>
          <p:cNvSpPr>
            <a:spLocks noGrp="1"/>
          </p:cNvSpPr>
          <p:nvPr/>
        </p:nvSpPr>
        <p:spPr>
          <a:xfrm>
            <a:off x="8086725" y="3638550"/>
            <a:ext cx="12954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지원법은 반복 발의되지만</a:t>
            </a:r>
          </a:p>
          <a:p>
            <a:pPr algn="ctr">
              <a:defRPr sz="11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전국 단위 실행 체계는 지연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80B3D47-54DA-418E-82EA-E75FB2F20441}"/>
              </a:ext>
            </a:extLst>
          </p:cNvPr>
          <p:cNvSpPr>
            <a:spLocks noGrp="1"/>
          </p:cNvSpPr>
          <p:nvPr/>
        </p:nvSpPr>
        <p:spPr>
          <a:xfrm>
            <a:off x="8086725" y="4457700"/>
            <a:ext cx="12954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실태조사 · 교육 · 고용 지원이 부처별로 끊겨 있습니다.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E7A558C-241E-4825-922A-D2410943CBF7}"/>
              </a:ext>
            </a:extLst>
          </p:cNvPr>
          <p:cNvSpPr>
            <a:spLocks noGrp="1"/>
          </p:cNvSpPr>
          <p:nvPr/>
        </p:nvSpPr>
        <p:spPr>
          <a:xfrm>
            <a:off x="9725025" y="2143125"/>
            <a:ext cx="1600200" cy="2933700"/>
          </a:xfrm>
          <a:prstGeom prst="rect">
            <a:avLst/>
          </a:prstGeom>
          <a:solidFill>
            <a:srgbClr val="E5FFF3"/>
          </a:solidFill>
          <a:ln w="9525">
            <a:solidFill>
              <a:srgbClr val="D9E6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C3EB22D-CA5D-40B4-89AD-57364BF8DB8E}"/>
              </a:ext>
            </a:extLst>
          </p:cNvPr>
          <p:cNvSpPr>
            <a:spLocks noGrp="1"/>
          </p:cNvSpPr>
          <p:nvPr/>
        </p:nvSpPr>
        <p:spPr>
          <a:xfrm>
            <a:off x="9725025" y="2143125"/>
            <a:ext cx="1600200" cy="114300"/>
          </a:xfrm>
          <a:prstGeom prst="rect">
            <a:avLst/>
          </a:prstGeom>
          <a:solidFill>
            <a:srgbClr val="37B9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19B8C61-98B6-4CDA-B348-553C57A8AE01}"/>
              </a:ext>
            </a:extLst>
          </p:cNvPr>
          <p:cNvSpPr>
            <a:spLocks noGrp="1"/>
          </p:cNvSpPr>
          <p:nvPr/>
        </p:nvSpPr>
        <p:spPr>
          <a:xfrm>
            <a:off x="9896475" y="2400300"/>
            <a:ext cx="1257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37B9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37B985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AF3CBD8B-EBA4-427D-8192-272B07C359F1}"/>
              </a:ext>
            </a:extLst>
          </p:cNvPr>
          <p:cNvSpPr>
            <a:spLocks noGrp="1"/>
          </p:cNvSpPr>
          <p:nvPr/>
        </p:nvSpPr>
        <p:spPr>
          <a:xfrm>
            <a:off x="9877425" y="2762250"/>
            <a:ext cx="12954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사는 곳과 나이에 따른 단절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8CA9DEA-9A6A-4517-ABE2-7FE1854E8806}"/>
              </a:ext>
            </a:extLst>
          </p:cNvPr>
          <p:cNvSpPr>
            <a:spLocks noGrp="1"/>
          </p:cNvSpPr>
          <p:nvPr/>
        </p:nvSpPr>
        <p:spPr>
          <a:xfrm>
            <a:off x="9934575" y="3448050"/>
            <a:ext cx="1181100" cy="14288"/>
          </a:xfrm>
          <a:prstGeom prst="rect">
            <a:avLst/>
          </a:prstGeom>
          <a:solidFill>
            <a:srgbClr val="C8D8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CEA9CD0-27DD-4985-96F9-CC1984E272A6}"/>
              </a:ext>
            </a:extLst>
          </p:cNvPr>
          <p:cNvSpPr>
            <a:spLocks noGrp="1"/>
          </p:cNvSpPr>
          <p:nvPr/>
        </p:nvSpPr>
        <p:spPr>
          <a:xfrm>
            <a:off x="9877425" y="3638550"/>
            <a:ext cx="12954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지자체 조례 중심의 임시 지원,</a:t>
            </a:r>
          </a:p>
          <a:p>
            <a:pPr algn="ctr">
              <a:defRPr sz="11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학령기 이후 취업 · 자립 지원 부족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A226AFC-575D-40BA-B390-15477FBF54D2}"/>
              </a:ext>
            </a:extLst>
          </p:cNvPr>
          <p:cNvSpPr>
            <a:spLocks noGrp="1"/>
          </p:cNvSpPr>
          <p:nvPr/>
        </p:nvSpPr>
        <p:spPr>
          <a:xfrm>
            <a:off x="9877425" y="4457700"/>
            <a:ext cx="12954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지역을 벗어나거나 졸업하는 순간 다시 사각지대로 갑니다.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5E624BB-9DFF-4C9F-9821-0172D1999BD6}"/>
              </a:ext>
            </a:extLst>
          </p:cNvPr>
          <p:cNvSpPr>
            <a:spLocks noGrp="1"/>
          </p:cNvSpPr>
          <p:nvPr/>
        </p:nvSpPr>
        <p:spPr>
          <a:xfrm>
            <a:off x="6191250" y="5391150"/>
            <a:ext cx="5143500" cy="495300"/>
          </a:xfrm>
          <a:prstGeom prst="rect">
            <a:avLst/>
          </a:prstGeom>
          <a:solidFill>
            <a:srgbClr val="12231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D81C300-6710-4428-AE43-1F4F429AD164}"/>
              </a:ext>
            </a:extLst>
          </p:cNvPr>
          <p:cNvSpPr>
            <a:spLocks noGrp="1"/>
          </p:cNvSpPr>
          <p:nvPr/>
        </p:nvSpPr>
        <p:spPr>
          <a:xfrm>
            <a:off x="6400800" y="5505450"/>
            <a:ext cx="4724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법 밖 · 예산 밖 · 졸업 뒤 밖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081C61AB-2A96-4259-AC06-DA21B7408EFE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571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rPr>
              <a:t>자료: 교육부 추정, 장애인복지법 시행규칙 기준, 국회 의안정보시스템 및 지자체 조례 현황 재구성</a:t>
            </a:r>
          </a:p>
        </p:txBody>
      </p:sp>
    </p:spTree>
    <p:extLst>
      <p:ext uri="{BB962C8B-B14F-4D97-AF65-F5344CB8AC3E}">
        <p14:creationId xmlns:p14="http://schemas.microsoft.com/office/powerpoint/2010/main" val="540506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F21BBD1E-8969-47E1-80D2-CBF4F227D6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E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FBE1190-4981-4CEF-8F5A-6AA52250A2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7BE0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1A39B77-5610-4EDF-AD2D-241186D9ADEC}"/>
              </a:ext>
            </a:extLst>
          </p:cNvPr>
          <p:cNvSpPr>
            <a:spLocks noGrp="1"/>
          </p:cNvSpPr>
          <p:nvPr/>
        </p:nvSpPr>
        <p:spPr>
          <a:xfrm>
            <a:off x="9810750" y="495300"/>
            <a:ext cx="1809750" cy="1809750"/>
          </a:xfrm>
          <a:prstGeom prst="rect">
            <a:avLst/>
          </a:prstGeom>
          <a:solidFill>
            <a:srgbClr val="E6FF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7DC2DFC-B7FC-406A-A9F0-7E255152BDAA}"/>
              </a:ext>
            </a:extLst>
          </p:cNvPr>
          <p:cNvSpPr>
            <a:spLocks noGrp="1"/>
          </p:cNvSpPr>
          <p:nvPr/>
        </p:nvSpPr>
        <p:spPr>
          <a:xfrm>
            <a:off x="361950" y="5810250"/>
            <a:ext cx="1524000" cy="666750"/>
          </a:xfrm>
          <a:prstGeom prst="rect">
            <a:avLst/>
          </a:prstGeom>
          <a:solidFill>
            <a:srgbClr val="EAF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BD44BF7-CA5A-4ECC-9565-F24AEE5DE19C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14300" cy="361950"/>
          </a:xfrm>
          <a:prstGeom prst="rect">
            <a:avLst/>
          </a:prstGeom>
          <a:solidFill>
            <a:srgbClr val="7BE0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E8ECAF1-EADE-4BD9-8E4A-CACA7B6CCA65}"/>
              </a:ext>
            </a:extLst>
          </p:cNvPr>
          <p:cNvSpPr>
            <a:spLocks noGrp="1"/>
          </p:cNvSpPr>
          <p:nvPr/>
        </p:nvSpPr>
        <p:spPr>
          <a:xfrm>
            <a:off x="914400" y="457200"/>
            <a:ext cx="5334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대상 사용자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760A4CF-1469-4AB8-89DE-BF2BEBE89EAA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8001000" cy="1809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90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defRPr>
            </a:pPr>
            <a:r>
              <a:rPr sz="390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느린학습자는</a:t>
            </a:r>
          </a:p>
          <a:p>
            <a:pPr algn="l">
              <a:defRPr sz="390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defRPr>
            </a:pPr>
            <a:r>
              <a:rPr sz="390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천천히 보고, 반복하고,</a:t>
            </a:r>
          </a:p>
          <a:p>
            <a:pPr algn="l">
              <a:defRPr sz="390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defRPr>
            </a:pPr>
            <a:r>
              <a:rPr sz="390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짧게 확인할 때 더 잘 이해합니다.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91EFC48-EF49-4BC5-86D4-618AA2E2272F}"/>
              </a:ext>
            </a:extLst>
          </p:cNvPr>
          <p:cNvSpPr>
            <a:spLocks noGrp="1"/>
          </p:cNvSpPr>
          <p:nvPr/>
        </p:nvSpPr>
        <p:spPr>
          <a:xfrm>
            <a:off x="685800" y="3124200"/>
            <a:ext cx="7239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필요한 것은 단순 요약이 아니라</a:t>
            </a:r>
          </a:p>
          <a:p>
            <a:pPr algn="l">
              <a:defRPr sz="2100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행동을 기억하게 만드는 학습 구조입니다.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96BB95C-C486-4B98-91A8-739D12E87919}"/>
              </a:ext>
            </a:extLst>
          </p:cNvPr>
          <p:cNvSpPr>
            <a:spLocks noGrp="1"/>
          </p:cNvSpPr>
          <p:nvPr/>
        </p:nvSpPr>
        <p:spPr>
          <a:xfrm>
            <a:off x="723900" y="4095750"/>
            <a:ext cx="3143250" cy="704850"/>
          </a:xfrm>
          <a:prstGeom prst="rect">
            <a:avLst/>
          </a:prstGeom>
          <a:solidFill>
            <a:srgbClr val="EAF7FF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7B9C760-C176-4678-A8E5-8A02526A2DF0}"/>
              </a:ext>
            </a:extLst>
          </p:cNvPr>
          <p:cNvSpPr>
            <a:spLocks noGrp="1"/>
          </p:cNvSpPr>
          <p:nvPr/>
        </p:nvSpPr>
        <p:spPr>
          <a:xfrm>
            <a:off x="933450" y="4324350"/>
            <a:ext cx="2724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한 장면씩 멈추기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CDA398B-D9D4-452C-B8AD-BE6317A82391}"/>
              </a:ext>
            </a:extLst>
          </p:cNvPr>
          <p:cNvSpPr>
            <a:spLocks noGrp="1"/>
          </p:cNvSpPr>
          <p:nvPr/>
        </p:nvSpPr>
        <p:spPr>
          <a:xfrm>
            <a:off x="4248150" y="4095750"/>
            <a:ext cx="3143250" cy="704850"/>
          </a:xfrm>
          <a:prstGeom prst="rect">
            <a:avLst/>
          </a:prstGeom>
          <a:solidFill>
            <a:srgbClr val="DDFBEF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35D81D9-9266-4AD3-B09D-B20422C903DF}"/>
              </a:ext>
            </a:extLst>
          </p:cNvPr>
          <p:cNvSpPr>
            <a:spLocks noGrp="1"/>
          </p:cNvSpPr>
          <p:nvPr/>
        </p:nvSpPr>
        <p:spPr>
          <a:xfrm>
            <a:off x="4457700" y="4324350"/>
            <a:ext cx="2724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쉬운 말로 바꾸기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5064BCC-1CB6-43E7-B87C-3565ABE56D27}"/>
              </a:ext>
            </a:extLst>
          </p:cNvPr>
          <p:cNvSpPr>
            <a:spLocks noGrp="1"/>
          </p:cNvSpPr>
          <p:nvPr/>
        </p:nvSpPr>
        <p:spPr>
          <a:xfrm>
            <a:off x="7772400" y="4095750"/>
            <a:ext cx="3143250" cy="704850"/>
          </a:xfrm>
          <a:prstGeom prst="rect">
            <a:avLst/>
          </a:prstGeom>
          <a:solidFill>
            <a:srgbClr val="FFF3C4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1550DFF-CDF2-420B-9BD0-F80A7A6F3C9D}"/>
              </a:ext>
            </a:extLst>
          </p:cNvPr>
          <p:cNvSpPr>
            <a:spLocks noGrp="1"/>
          </p:cNvSpPr>
          <p:nvPr/>
        </p:nvSpPr>
        <p:spPr>
          <a:xfrm>
            <a:off x="7981950" y="4324350"/>
            <a:ext cx="2724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해야 할 일을 카드로 보기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89A3BD5-B1C2-4FB3-9BC2-81950A9F4347}"/>
              </a:ext>
            </a:extLst>
          </p:cNvPr>
          <p:cNvSpPr>
            <a:spLocks noGrp="1"/>
          </p:cNvSpPr>
          <p:nvPr/>
        </p:nvSpPr>
        <p:spPr>
          <a:xfrm>
            <a:off x="723900" y="5067300"/>
            <a:ext cx="4953000" cy="704850"/>
          </a:xfrm>
          <a:prstGeom prst="rect">
            <a:avLst/>
          </a:prstGeom>
          <a:solidFill>
            <a:srgbClr val="FFE5E5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15E8298-65A9-4219-A9C3-EFAC53F07759}"/>
              </a:ext>
            </a:extLst>
          </p:cNvPr>
          <p:cNvSpPr>
            <a:spLocks noGrp="1"/>
          </p:cNvSpPr>
          <p:nvPr/>
        </p:nvSpPr>
        <p:spPr>
          <a:xfrm>
            <a:off x="933450" y="5295900"/>
            <a:ext cx="4533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하면 안 되는 일도 함께 기억하기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F5C1157-361E-4DB5-A93A-B797F007E795}"/>
              </a:ext>
            </a:extLst>
          </p:cNvPr>
          <p:cNvSpPr>
            <a:spLocks noGrp="1"/>
          </p:cNvSpPr>
          <p:nvPr/>
        </p:nvSpPr>
        <p:spPr>
          <a:xfrm>
            <a:off x="6057900" y="5067300"/>
            <a:ext cx="4953000" cy="704850"/>
          </a:xfrm>
          <a:prstGeom prst="rect">
            <a:avLst/>
          </a:prstGeom>
          <a:solidFill>
            <a:srgbClr val="F2ECFF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838A05F-6ED1-482B-A453-D7EC2055147A}"/>
              </a:ext>
            </a:extLst>
          </p:cNvPr>
          <p:cNvSpPr>
            <a:spLocks noGrp="1"/>
          </p:cNvSpPr>
          <p:nvPr/>
        </p:nvSpPr>
        <p:spPr>
          <a:xfrm>
            <a:off x="6267450" y="5295900"/>
            <a:ext cx="4533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직접 골라보며 한 번 더 익히기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5A27A8C-78EA-4E6E-A6A3-65AF3A08473B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571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rPr>
              <a:t>차근차근 AI 도우미</a:t>
            </a:r>
          </a:p>
        </p:txBody>
      </p:sp>
    </p:spTree>
    <p:extLst>
      <p:ext uri="{BB962C8B-B14F-4D97-AF65-F5344CB8AC3E}">
        <p14:creationId xmlns:p14="http://schemas.microsoft.com/office/powerpoint/2010/main" val="388583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46914745-7463-4A2D-84F7-9B39606ADC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F0FB1B6-F5B6-469D-9D8E-D6FEF02CFB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8FD3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C4AB790-3664-46B4-B093-6E50A7EB3CA4}"/>
              </a:ext>
            </a:extLst>
          </p:cNvPr>
          <p:cNvSpPr>
            <a:spLocks noGrp="1"/>
          </p:cNvSpPr>
          <p:nvPr/>
        </p:nvSpPr>
        <p:spPr>
          <a:xfrm>
            <a:off x="9810750" y="495300"/>
            <a:ext cx="1809750" cy="1809750"/>
          </a:xfrm>
          <a:prstGeom prst="rect">
            <a:avLst/>
          </a:prstGeom>
          <a:solidFill>
            <a:srgbClr val="DDF4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437EBBA-170E-4D40-A365-DDCF36E8ED80}"/>
              </a:ext>
            </a:extLst>
          </p:cNvPr>
          <p:cNvSpPr>
            <a:spLocks noGrp="1"/>
          </p:cNvSpPr>
          <p:nvPr/>
        </p:nvSpPr>
        <p:spPr>
          <a:xfrm>
            <a:off x="361950" y="5810250"/>
            <a:ext cx="1524000" cy="666750"/>
          </a:xfrm>
          <a:prstGeom prst="rect">
            <a:avLst/>
          </a:prstGeom>
          <a:solidFill>
            <a:srgbClr val="F1FF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E788280-CA79-499D-A1AC-99F447F29841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14300" cy="361950"/>
          </a:xfrm>
          <a:prstGeom prst="rect">
            <a:avLst/>
          </a:prstGeom>
          <a:solidFill>
            <a:srgbClr val="8FD3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0EA3BC6-4531-463C-BEC9-F71EE89CF486}"/>
              </a:ext>
            </a:extLst>
          </p:cNvPr>
          <p:cNvSpPr>
            <a:spLocks noGrp="1"/>
          </p:cNvSpPr>
          <p:nvPr/>
        </p:nvSpPr>
        <p:spPr>
          <a:xfrm>
            <a:off x="914400" y="457200"/>
            <a:ext cx="5334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기존 서비스의 한계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D351C4A-B2A5-437C-B282-0B9A2272293B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647700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35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defRPr>
            </a:pPr>
            <a:r>
              <a:rPr sz="435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공공 재난안전 자료는</a:t>
            </a:r>
          </a:p>
          <a:p>
            <a:pPr algn="l">
              <a:defRPr sz="435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defRPr>
            </a:pPr>
            <a:r>
              <a:rPr sz="435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이미 많습니다.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3C82588-A984-462F-A8DD-68D084A50044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43815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D706B6D-8D19-4A2B-BD83-1E36A1AD279C}"/>
              </a:ext>
            </a:extLst>
          </p:cNvPr>
          <p:cNvSpPr>
            <a:spLocks noGrp="1"/>
          </p:cNvSpPr>
          <p:nvPr/>
        </p:nvSpPr>
        <p:spPr>
          <a:xfrm>
            <a:off x="895350" y="3086100"/>
            <a:ext cx="3962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안전한TV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52E1B7F-8A19-4B4D-81C5-9200C47E0E86}"/>
              </a:ext>
            </a:extLst>
          </p:cNvPr>
          <p:cNvSpPr>
            <a:spLocks noGrp="1"/>
          </p:cNvSpPr>
          <p:nvPr/>
        </p:nvSpPr>
        <p:spPr>
          <a:xfrm>
            <a:off x="895350" y="3371850"/>
            <a:ext cx="3962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재난안전 영상을 제공합니다.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12356FC-2624-4591-A20E-9D35729DE3D1}"/>
              </a:ext>
            </a:extLst>
          </p:cNvPr>
          <p:cNvSpPr>
            <a:spLocks noGrp="1"/>
          </p:cNvSpPr>
          <p:nvPr/>
        </p:nvSpPr>
        <p:spPr>
          <a:xfrm>
            <a:off x="685800" y="3771900"/>
            <a:ext cx="43815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963F842-9AB0-4666-9A9D-C421AD22C175}"/>
              </a:ext>
            </a:extLst>
          </p:cNvPr>
          <p:cNvSpPr>
            <a:spLocks noGrp="1"/>
          </p:cNvSpPr>
          <p:nvPr/>
        </p:nvSpPr>
        <p:spPr>
          <a:xfrm>
            <a:off x="895350" y="4000500"/>
            <a:ext cx="3962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국민재난안전포털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D9CDB41-7BBB-42BE-A20D-39DEA9EF23A8}"/>
              </a:ext>
            </a:extLst>
          </p:cNvPr>
          <p:cNvSpPr>
            <a:spLocks noGrp="1"/>
          </p:cNvSpPr>
          <p:nvPr/>
        </p:nvSpPr>
        <p:spPr>
          <a:xfrm>
            <a:off x="895350" y="4286250"/>
            <a:ext cx="3962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공식 행동요령을 제공합니다.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90C49D8-8F2F-40FF-B755-84AEB779A802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43815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7B85E20-D0C2-4C8E-8046-7F6F32EAF6A1}"/>
              </a:ext>
            </a:extLst>
          </p:cNvPr>
          <p:cNvSpPr>
            <a:spLocks noGrp="1"/>
          </p:cNvSpPr>
          <p:nvPr/>
        </p:nvSpPr>
        <p:spPr>
          <a:xfrm>
            <a:off x="895350" y="4914900"/>
            <a:ext cx="3962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장애인 재난안전 가이드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DF94644-FB40-4BFC-A73C-481AE6B48584}"/>
              </a:ext>
            </a:extLst>
          </p:cNvPr>
          <p:cNvSpPr>
            <a:spLocks noGrp="1"/>
          </p:cNvSpPr>
          <p:nvPr/>
        </p:nvSpPr>
        <p:spPr>
          <a:xfrm>
            <a:off x="895350" y="5200650"/>
            <a:ext cx="3962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장애 유형별 안내를 제공합니다.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804E1D0-9FFA-41B9-B6A0-4B7C2C6610CE}"/>
              </a:ext>
            </a:extLst>
          </p:cNvPr>
          <p:cNvSpPr>
            <a:spLocks noGrp="1"/>
          </p:cNvSpPr>
          <p:nvPr/>
        </p:nvSpPr>
        <p:spPr>
          <a:xfrm>
            <a:off x="5657850" y="3943350"/>
            <a:ext cx="419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BBA3F7A-9AFB-4A6C-A5FE-7991EB7498D3}"/>
              </a:ext>
            </a:extLst>
          </p:cNvPr>
          <p:cNvSpPr>
            <a:spLocks noGrp="1"/>
          </p:cNvSpPr>
          <p:nvPr/>
        </p:nvSpPr>
        <p:spPr>
          <a:xfrm>
            <a:off x="6591300" y="2495550"/>
            <a:ext cx="4095750" cy="2381250"/>
          </a:xfrm>
          <a:prstGeom prst="rect">
            <a:avLst/>
          </a:prstGeom>
          <a:solidFill>
            <a:srgbClr val="FFF3C4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2A27D78-4F23-4F72-B3C2-85B0A0DF7DFF}"/>
              </a:ext>
            </a:extLst>
          </p:cNvPr>
          <p:cNvSpPr>
            <a:spLocks noGrp="1"/>
          </p:cNvSpPr>
          <p:nvPr/>
        </p:nvSpPr>
        <p:spPr>
          <a:xfrm>
            <a:off x="6800850" y="2667000"/>
            <a:ext cx="36766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남는 빈틈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A802855-5BF8-4374-88DA-BCE4968F87AF}"/>
              </a:ext>
            </a:extLst>
          </p:cNvPr>
          <p:cNvSpPr>
            <a:spLocks noGrp="1"/>
          </p:cNvSpPr>
          <p:nvPr/>
        </p:nvSpPr>
        <p:spPr>
          <a:xfrm>
            <a:off x="6800850" y="2990850"/>
            <a:ext cx="36766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사용자가 직접 보고 읽는 구조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756BFD8-CE97-4923-84FE-3CEA45DE9501}"/>
              </a:ext>
            </a:extLst>
          </p:cNvPr>
          <p:cNvSpPr>
            <a:spLocks noGrp="1"/>
          </p:cNvSpPr>
          <p:nvPr/>
        </p:nvSpPr>
        <p:spPr>
          <a:xfrm>
            <a:off x="6800850" y="3524250"/>
            <a:ext cx="3676650" cy="1390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영상 장면과 행동요령을 연결해서</a:t>
            </a:r>
          </a:p>
          <a:p>
            <a:pPr algn="l">
              <a:defRPr sz="172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“이 장면에서는 이것을 기억하세요”라고</a:t>
            </a:r>
          </a:p>
          <a:p>
            <a:pPr algn="l">
              <a:defRPr sz="172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차근차근 도와주지는 못합니다.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96A080E-C279-4416-96AB-D4FC0435D3E0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571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rPr>
              <a:t>차근차근 AI 도우미</a:t>
            </a:r>
          </a:p>
        </p:txBody>
      </p:sp>
    </p:spTree>
    <p:extLst>
      <p:ext uri="{BB962C8B-B14F-4D97-AF65-F5344CB8AC3E}">
        <p14:creationId xmlns:p14="http://schemas.microsoft.com/office/powerpoint/2010/main" val="1505462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6DCF9610-F9AC-46B4-8B70-DA64C6947B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E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58D7B52-46B6-4376-A29B-FE92ADF13C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7BE0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98BCC15-F718-47E0-ABD7-D37E845A45D9}"/>
              </a:ext>
            </a:extLst>
          </p:cNvPr>
          <p:cNvSpPr>
            <a:spLocks noGrp="1"/>
          </p:cNvSpPr>
          <p:nvPr/>
        </p:nvSpPr>
        <p:spPr>
          <a:xfrm>
            <a:off x="9810750" y="495300"/>
            <a:ext cx="1809750" cy="1809750"/>
          </a:xfrm>
          <a:prstGeom prst="rect">
            <a:avLst/>
          </a:prstGeom>
          <a:solidFill>
            <a:srgbClr val="E6FF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4A8D94D-58E7-40BF-B71C-3543FACA74FA}"/>
              </a:ext>
            </a:extLst>
          </p:cNvPr>
          <p:cNvSpPr>
            <a:spLocks noGrp="1"/>
          </p:cNvSpPr>
          <p:nvPr/>
        </p:nvSpPr>
        <p:spPr>
          <a:xfrm>
            <a:off x="361950" y="5810250"/>
            <a:ext cx="1524000" cy="666750"/>
          </a:xfrm>
          <a:prstGeom prst="rect">
            <a:avLst/>
          </a:prstGeom>
          <a:solidFill>
            <a:srgbClr val="EAF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5FD4F46-5FA2-4D46-953C-F29D893851C2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14300" cy="361950"/>
          </a:xfrm>
          <a:prstGeom prst="rect">
            <a:avLst/>
          </a:prstGeom>
          <a:solidFill>
            <a:srgbClr val="7BE0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B0D65CD-F2F4-4CD5-8E61-02CA84C6124C}"/>
              </a:ext>
            </a:extLst>
          </p:cNvPr>
          <p:cNvSpPr>
            <a:spLocks noGrp="1"/>
          </p:cNvSpPr>
          <p:nvPr/>
        </p:nvSpPr>
        <p:spPr>
          <a:xfrm>
            <a:off x="914400" y="457200"/>
            <a:ext cx="5334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우리가 만든 서비스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6F37651-0D9D-4296-BCB5-8151E447B875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77152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35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defRPr>
            </a:pPr>
            <a:r>
              <a:rPr sz="435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재난안전 영상을</a:t>
            </a:r>
          </a:p>
          <a:p>
            <a:pPr algn="l">
              <a:defRPr sz="435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defRPr>
            </a:pPr>
            <a:r>
              <a:rPr sz="435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학습 가능한 형태로 바꿉니다.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98523FD-7B1F-4E20-869D-1EC5964490FE}"/>
              </a:ext>
            </a:extLst>
          </p:cNvPr>
          <p:cNvSpPr>
            <a:spLocks noGrp="1"/>
          </p:cNvSpPr>
          <p:nvPr/>
        </p:nvSpPr>
        <p:spPr>
          <a:xfrm>
            <a:off x="704850" y="3143250"/>
            <a:ext cx="3009900" cy="1581150"/>
          </a:xfrm>
          <a:prstGeom prst="rect">
            <a:avLst/>
          </a:prstGeom>
          <a:solidFill>
            <a:srgbClr val="EAF7FF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A8DDE0B-40D7-4DBD-9669-9258F2BB7513}"/>
              </a:ext>
            </a:extLst>
          </p:cNvPr>
          <p:cNvSpPr>
            <a:spLocks noGrp="1"/>
          </p:cNvSpPr>
          <p:nvPr/>
        </p:nvSpPr>
        <p:spPr>
          <a:xfrm>
            <a:off x="914400" y="3371850"/>
            <a:ext cx="25908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영상 링크 입력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153A149-B496-4607-832C-EE0AC21F41F8}"/>
              </a:ext>
            </a:extLst>
          </p:cNvPr>
          <p:cNvSpPr>
            <a:spLocks noGrp="1"/>
          </p:cNvSpPr>
          <p:nvPr/>
        </p:nvSpPr>
        <p:spPr>
          <a:xfrm>
            <a:off x="914400" y="3867150"/>
            <a:ext cx="2590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유튜브나 공공기관 영상 주소를 넣습니다.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AE55076-2D2E-41EE-8766-D0C8D086E404}"/>
              </a:ext>
            </a:extLst>
          </p:cNvPr>
          <p:cNvSpPr>
            <a:spLocks noGrp="1"/>
          </p:cNvSpPr>
          <p:nvPr/>
        </p:nvSpPr>
        <p:spPr>
          <a:xfrm>
            <a:off x="3829050" y="3676650"/>
            <a:ext cx="419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2E6D304-9D2E-4FE0-AC35-F39D125B64F9}"/>
              </a:ext>
            </a:extLst>
          </p:cNvPr>
          <p:cNvSpPr>
            <a:spLocks noGrp="1"/>
          </p:cNvSpPr>
          <p:nvPr/>
        </p:nvSpPr>
        <p:spPr>
          <a:xfrm>
            <a:off x="4343400" y="3143250"/>
            <a:ext cx="3009900" cy="1581150"/>
          </a:xfrm>
          <a:prstGeom prst="rect">
            <a:avLst/>
          </a:prstGeom>
          <a:solidFill>
            <a:srgbClr val="DDFBEF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3375FE2-6467-4AD4-9E90-9EFB78ABDCFF}"/>
              </a:ext>
            </a:extLst>
          </p:cNvPr>
          <p:cNvSpPr>
            <a:spLocks noGrp="1"/>
          </p:cNvSpPr>
          <p:nvPr/>
        </p:nvSpPr>
        <p:spPr>
          <a:xfrm>
            <a:off x="4552950" y="3371850"/>
            <a:ext cx="25908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전문 Agent 분석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87DB81C-A98A-41E3-BD9A-90020998468C}"/>
              </a:ext>
            </a:extLst>
          </p:cNvPr>
          <p:cNvSpPr>
            <a:spLocks noGrp="1"/>
          </p:cNvSpPr>
          <p:nvPr/>
        </p:nvSpPr>
        <p:spPr>
          <a:xfrm>
            <a:off x="4552950" y="3867150"/>
            <a:ext cx="2590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장면, 음성, 자막, 공식 근거를 함께 봅니다.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48F202C-FAD3-4C00-9485-B21FFA98FF70}"/>
              </a:ext>
            </a:extLst>
          </p:cNvPr>
          <p:cNvSpPr>
            <a:spLocks noGrp="1"/>
          </p:cNvSpPr>
          <p:nvPr/>
        </p:nvSpPr>
        <p:spPr>
          <a:xfrm>
            <a:off x="7467600" y="3676650"/>
            <a:ext cx="419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6DF4CEA-3A5F-4E1A-9B9A-4421481EC17D}"/>
              </a:ext>
            </a:extLst>
          </p:cNvPr>
          <p:cNvSpPr>
            <a:spLocks noGrp="1"/>
          </p:cNvSpPr>
          <p:nvPr/>
        </p:nvSpPr>
        <p:spPr>
          <a:xfrm>
            <a:off x="7981950" y="3143250"/>
            <a:ext cx="3009900" cy="1581150"/>
          </a:xfrm>
          <a:prstGeom prst="rect">
            <a:avLst/>
          </a:prstGeom>
          <a:solidFill>
            <a:srgbClr val="FFF3C4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AFC63F1-F10B-4E2D-B174-F11ABC8BC256}"/>
              </a:ext>
            </a:extLst>
          </p:cNvPr>
          <p:cNvSpPr>
            <a:spLocks noGrp="1"/>
          </p:cNvSpPr>
          <p:nvPr/>
        </p:nvSpPr>
        <p:spPr>
          <a:xfrm>
            <a:off x="8191500" y="3371850"/>
            <a:ext cx="25908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장면별 연습 화면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EBCED8B-A49A-4E08-B91C-53367A1444AD}"/>
              </a:ext>
            </a:extLst>
          </p:cNvPr>
          <p:cNvSpPr>
            <a:spLocks noGrp="1"/>
          </p:cNvSpPr>
          <p:nvPr/>
        </p:nvSpPr>
        <p:spPr>
          <a:xfrm>
            <a:off x="8191500" y="3867150"/>
            <a:ext cx="2590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상황과 행동을 카드처럼 확인합니다.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A738ACB-7374-4C9E-9B1E-489362C7568A}"/>
              </a:ext>
            </a:extLst>
          </p:cNvPr>
          <p:cNvSpPr>
            <a:spLocks noGrp="1"/>
          </p:cNvSpPr>
          <p:nvPr/>
        </p:nvSpPr>
        <p:spPr>
          <a:xfrm>
            <a:off x="895350" y="5219700"/>
            <a:ext cx="857250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사용자는 영상을 한 장면씩 보고,</a:t>
            </a:r>
          </a:p>
          <a:p>
            <a:pPr algn="l">
              <a:defRPr sz="1875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상황 · 해야 할 일 · 이유 · 하지 말아야 할 일을</a:t>
            </a:r>
          </a:p>
          <a:p>
            <a:pPr algn="l">
              <a:defRPr sz="1875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한 번에 하나씩 확인합니다.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3706DF1-32A7-411C-8279-D6926B1789C0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571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rPr>
              <a:t>차근차근 AI 도우미</a:t>
            </a:r>
          </a:p>
        </p:txBody>
      </p:sp>
    </p:spTree>
    <p:extLst>
      <p:ext uri="{BB962C8B-B14F-4D97-AF65-F5344CB8AC3E}">
        <p14:creationId xmlns:p14="http://schemas.microsoft.com/office/powerpoint/2010/main" val="128609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94B1DA6A-54F8-49F6-9446-9D7FFB3A09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4CEEB29-F8D5-4609-96C0-B06E0964E7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8FD3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27C4589-BB6E-42CB-BEF4-F910CBCD369A}"/>
              </a:ext>
            </a:extLst>
          </p:cNvPr>
          <p:cNvSpPr>
            <a:spLocks noGrp="1"/>
          </p:cNvSpPr>
          <p:nvPr/>
        </p:nvSpPr>
        <p:spPr>
          <a:xfrm>
            <a:off x="9810750" y="495300"/>
            <a:ext cx="1809750" cy="1809750"/>
          </a:xfrm>
          <a:prstGeom prst="rect">
            <a:avLst/>
          </a:prstGeom>
          <a:solidFill>
            <a:srgbClr val="DDF4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6BB5549-F8AF-42B2-863D-E5C7503EE460}"/>
              </a:ext>
            </a:extLst>
          </p:cNvPr>
          <p:cNvSpPr>
            <a:spLocks noGrp="1"/>
          </p:cNvSpPr>
          <p:nvPr/>
        </p:nvSpPr>
        <p:spPr>
          <a:xfrm>
            <a:off x="361950" y="5810250"/>
            <a:ext cx="1524000" cy="666750"/>
          </a:xfrm>
          <a:prstGeom prst="rect">
            <a:avLst/>
          </a:prstGeom>
          <a:solidFill>
            <a:srgbClr val="F1FF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BF2E9A2-EFED-4ABE-AA4B-D0EBCF9CE89E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14300" cy="361950"/>
          </a:xfrm>
          <a:prstGeom prst="rect">
            <a:avLst/>
          </a:prstGeom>
          <a:solidFill>
            <a:srgbClr val="8FD3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CAF2744-88D4-48C1-B3E9-703493AFE228}"/>
              </a:ext>
            </a:extLst>
          </p:cNvPr>
          <p:cNvSpPr>
            <a:spLocks noGrp="1"/>
          </p:cNvSpPr>
          <p:nvPr/>
        </p:nvSpPr>
        <p:spPr>
          <a:xfrm>
            <a:off x="914400" y="457200"/>
            <a:ext cx="5334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학습 화면 구조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D31C00-5EA8-4DC6-9070-3E0813FE1C6A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742950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05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defRPr>
            </a:pPr>
            <a:r>
              <a:rPr sz="405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한 장면을 보고 멈춘 뒤,</a:t>
            </a:r>
          </a:p>
          <a:p>
            <a:pPr algn="l">
              <a:defRPr sz="405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defRPr>
            </a:pPr>
            <a:r>
              <a:rPr sz="405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정보를 나눠서 보여줍니다.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FF42FEE-8975-4C61-8C76-A0C68D5F211F}"/>
              </a:ext>
            </a:extLst>
          </p:cNvPr>
          <p:cNvSpPr>
            <a:spLocks noGrp="1"/>
          </p:cNvSpPr>
          <p:nvPr/>
        </p:nvSpPr>
        <p:spPr>
          <a:xfrm>
            <a:off x="819150" y="2743200"/>
            <a:ext cx="4552950" cy="838200"/>
          </a:xfrm>
          <a:prstGeom prst="rect">
            <a:avLst/>
          </a:prstGeom>
          <a:solidFill>
            <a:srgbClr val="EAF7FF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A178341-1E3E-4B1B-ADAC-FF468FEA655B}"/>
              </a:ext>
            </a:extLst>
          </p:cNvPr>
          <p:cNvSpPr>
            <a:spLocks noGrp="1"/>
          </p:cNvSpPr>
          <p:nvPr/>
        </p:nvSpPr>
        <p:spPr>
          <a:xfrm>
            <a:off x="1028700" y="2914650"/>
            <a:ext cx="4133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상황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34B92CD-8BAD-4816-B28F-FAA150E47849}"/>
              </a:ext>
            </a:extLst>
          </p:cNvPr>
          <p:cNvSpPr>
            <a:spLocks noGrp="1"/>
          </p:cNvSpPr>
          <p:nvPr/>
        </p:nvSpPr>
        <p:spPr>
          <a:xfrm>
            <a:off x="1028700" y="3238500"/>
            <a:ext cx="41338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지금 어떤 일이 일어났는지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7E28E8F-700E-476B-B23F-BB4367143903}"/>
              </a:ext>
            </a:extLst>
          </p:cNvPr>
          <p:cNvSpPr>
            <a:spLocks noGrp="1"/>
          </p:cNvSpPr>
          <p:nvPr/>
        </p:nvSpPr>
        <p:spPr>
          <a:xfrm>
            <a:off x="5791200" y="2743200"/>
            <a:ext cx="4552950" cy="838200"/>
          </a:xfrm>
          <a:prstGeom prst="rect">
            <a:avLst/>
          </a:prstGeom>
          <a:solidFill>
            <a:srgbClr val="DDFBEF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9D919C9-AA62-40BD-AD1C-B38BCD5E680B}"/>
              </a:ext>
            </a:extLst>
          </p:cNvPr>
          <p:cNvSpPr>
            <a:spLocks noGrp="1"/>
          </p:cNvSpPr>
          <p:nvPr/>
        </p:nvSpPr>
        <p:spPr>
          <a:xfrm>
            <a:off x="6000750" y="2914650"/>
            <a:ext cx="4133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해야 할 일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769C7E9-B866-4115-BA17-6EB8B7A35E0F}"/>
              </a:ext>
            </a:extLst>
          </p:cNvPr>
          <p:cNvSpPr>
            <a:spLocks noGrp="1"/>
          </p:cNvSpPr>
          <p:nvPr/>
        </p:nvSpPr>
        <p:spPr>
          <a:xfrm>
            <a:off x="6000750" y="3238500"/>
            <a:ext cx="41338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무엇을 해야 하는지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9975A10-3E1B-4297-8012-6776FEFE0A54}"/>
              </a:ext>
            </a:extLst>
          </p:cNvPr>
          <p:cNvSpPr>
            <a:spLocks noGrp="1"/>
          </p:cNvSpPr>
          <p:nvPr/>
        </p:nvSpPr>
        <p:spPr>
          <a:xfrm>
            <a:off x="819150" y="3810000"/>
            <a:ext cx="4552950" cy="838200"/>
          </a:xfrm>
          <a:prstGeom prst="rect">
            <a:avLst/>
          </a:prstGeom>
          <a:solidFill>
            <a:srgbClr val="FFF3C4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EDD8D01-5002-4EE8-B083-5249CD8BEB2F}"/>
              </a:ext>
            </a:extLst>
          </p:cNvPr>
          <p:cNvSpPr>
            <a:spLocks noGrp="1"/>
          </p:cNvSpPr>
          <p:nvPr/>
        </p:nvSpPr>
        <p:spPr>
          <a:xfrm>
            <a:off x="1028700" y="3981450"/>
            <a:ext cx="4133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이유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D6231B7-F807-474E-85B0-70CD06141595}"/>
              </a:ext>
            </a:extLst>
          </p:cNvPr>
          <p:cNvSpPr>
            <a:spLocks noGrp="1"/>
          </p:cNvSpPr>
          <p:nvPr/>
        </p:nvSpPr>
        <p:spPr>
          <a:xfrm>
            <a:off x="1028700" y="4305300"/>
            <a:ext cx="41338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왜 그렇게 해야 하는지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73CD879-D766-4321-958D-3E27737ECA85}"/>
              </a:ext>
            </a:extLst>
          </p:cNvPr>
          <p:cNvSpPr>
            <a:spLocks noGrp="1"/>
          </p:cNvSpPr>
          <p:nvPr/>
        </p:nvSpPr>
        <p:spPr>
          <a:xfrm>
            <a:off x="5791200" y="3810000"/>
            <a:ext cx="4552950" cy="838200"/>
          </a:xfrm>
          <a:prstGeom prst="rect">
            <a:avLst/>
          </a:prstGeom>
          <a:solidFill>
            <a:srgbClr val="FFE5E5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E50F005-FD82-4060-B514-2C9663EFDBF9}"/>
              </a:ext>
            </a:extLst>
          </p:cNvPr>
          <p:cNvSpPr>
            <a:spLocks noGrp="1"/>
          </p:cNvSpPr>
          <p:nvPr/>
        </p:nvSpPr>
        <p:spPr>
          <a:xfrm>
            <a:off x="6000750" y="3981450"/>
            <a:ext cx="4133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하지 말아요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C294139-9517-45A9-9542-FAA40A2651EF}"/>
              </a:ext>
            </a:extLst>
          </p:cNvPr>
          <p:cNvSpPr>
            <a:spLocks noGrp="1"/>
          </p:cNvSpPr>
          <p:nvPr/>
        </p:nvSpPr>
        <p:spPr>
          <a:xfrm>
            <a:off x="6000750" y="4305300"/>
            <a:ext cx="41338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위험한 행동은 무엇인지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FF5CCDB-87F6-4EC1-B2F9-978186E756A5}"/>
              </a:ext>
            </a:extLst>
          </p:cNvPr>
          <p:cNvSpPr>
            <a:spLocks noGrp="1"/>
          </p:cNvSpPr>
          <p:nvPr/>
        </p:nvSpPr>
        <p:spPr>
          <a:xfrm>
            <a:off x="819150" y="4876800"/>
            <a:ext cx="9944100" cy="838200"/>
          </a:xfrm>
          <a:prstGeom prst="rect">
            <a:avLst/>
          </a:prstGeom>
          <a:solidFill>
            <a:srgbClr val="F2ECFF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6E5E167-FEB1-49C6-B483-7D372421A1CF}"/>
              </a:ext>
            </a:extLst>
          </p:cNvPr>
          <p:cNvSpPr>
            <a:spLocks noGrp="1"/>
          </p:cNvSpPr>
          <p:nvPr/>
        </p:nvSpPr>
        <p:spPr>
          <a:xfrm>
            <a:off x="1028700" y="5048250"/>
            <a:ext cx="9525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확인 질문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7EA0959-77AB-446A-9E26-833A15F52A0F}"/>
              </a:ext>
            </a:extLst>
          </p:cNvPr>
          <p:cNvSpPr>
            <a:spLocks noGrp="1"/>
          </p:cNvSpPr>
          <p:nvPr/>
        </p:nvSpPr>
        <p:spPr>
          <a:xfrm>
            <a:off x="1028700" y="5372100"/>
            <a:ext cx="9525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직접 눌러 보며 다시 기억하기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40DDB34-FE11-4066-92B9-607AD03A2643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571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rPr>
              <a:t>멀티트랙 설명: 상황과 행동을 섞지 않고 분리해 기억하게 합니다.</a:t>
            </a:r>
          </a:p>
        </p:txBody>
      </p:sp>
    </p:spTree>
    <p:extLst>
      <p:ext uri="{BB962C8B-B14F-4D97-AF65-F5344CB8AC3E}">
        <p14:creationId xmlns:p14="http://schemas.microsoft.com/office/powerpoint/2010/main" val="1572508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직사각형 33">
            <a:extLst>
              <a:ext uri="{FF2B5EF4-FFF2-40B4-BE49-F238E27FC236}">
                <a16:creationId xmlns:a16="http://schemas.microsoft.com/office/drawing/2014/main" id="{CBC5C3D2-288F-467D-80BF-840E813A76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E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7205D50-B32E-4DF0-AF86-5A5724371E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7BE0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58A270E-1213-4D5B-B496-3D1B226886AB}"/>
              </a:ext>
            </a:extLst>
          </p:cNvPr>
          <p:cNvSpPr>
            <a:spLocks noGrp="1"/>
          </p:cNvSpPr>
          <p:nvPr/>
        </p:nvSpPr>
        <p:spPr>
          <a:xfrm>
            <a:off x="9810750" y="495300"/>
            <a:ext cx="1809750" cy="1809750"/>
          </a:xfrm>
          <a:prstGeom prst="rect">
            <a:avLst/>
          </a:prstGeom>
          <a:solidFill>
            <a:srgbClr val="E6FF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E55DB32-4508-4048-BA23-8F45FE9491E9}"/>
              </a:ext>
            </a:extLst>
          </p:cNvPr>
          <p:cNvSpPr>
            <a:spLocks noGrp="1"/>
          </p:cNvSpPr>
          <p:nvPr/>
        </p:nvSpPr>
        <p:spPr>
          <a:xfrm>
            <a:off x="361950" y="5810250"/>
            <a:ext cx="1524000" cy="666750"/>
          </a:xfrm>
          <a:prstGeom prst="rect">
            <a:avLst/>
          </a:prstGeom>
          <a:solidFill>
            <a:srgbClr val="EAF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14078DC-474D-4336-B12A-D4371FC78833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14300" cy="361950"/>
          </a:xfrm>
          <a:prstGeom prst="rect">
            <a:avLst/>
          </a:prstGeom>
          <a:solidFill>
            <a:srgbClr val="7BE0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105A75E-D334-466A-A86D-443B2DCCE7D0}"/>
              </a:ext>
            </a:extLst>
          </p:cNvPr>
          <p:cNvSpPr>
            <a:spLocks noGrp="1"/>
          </p:cNvSpPr>
          <p:nvPr/>
        </p:nvSpPr>
        <p:spPr>
          <a:xfrm>
            <a:off x="914400" y="457200"/>
            <a:ext cx="5334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핵심 차별점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D9AFCA5-1EDC-4E6C-BA16-E79E7CD36170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8667750" cy="1333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75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defRPr>
            </a:pPr>
            <a:r>
              <a:rPr sz="375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영상을 “보기만 하는 자료”에서</a:t>
            </a:r>
          </a:p>
          <a:p>
            <a:pPr algn="l">
              <a:defRPr sz="375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defRPr>
            </a:pPr>
            <a:r>
              <a:rPr sz="375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“따라 하며 익히는 자료”로 바꿉니다.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DA4D1BC-4489-4897-8A80-760D5CF15AF9}"/>
              </a:ext>
            </a:extLst>
          </p:cNvPr>
          <p:cNvSpPr>
            <a:spLocks noGrp="1"/>
          </p:cNvSpPr>
          <p:nvPr/>
        </p:nvSpPr>
        <p:spPr>
          <a:xfrm>
            <a:off x="876300" y="2514600"/>
            <a:ext cx="2857500" cy="419100"/>
          </a:xfrm>
          <a:prstGeom prst="rect">
            <a:avLst/>
          </a:prstGeom>
          <a:solidFill>
            <a:srgbClr val="EEF4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224D353-60EA-4E3F-BD7C-1ECE98BB84A8}"/>
              </a:ext>
            </a:extLst>
          </p:cNvPr>
          <p:cNvSpPr>
            <a:spLocks noGrp="1"/>
          </p:cNvSpPr>
          <p:nvPr/>
        </p:nvSpPr>
        <p:spPr>
          <a:xfrm>
            <a:off x="1047750" y="2590800"/>
            <a:ext cx="2514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빠른 영상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2E0149B-9371-401D-8477-AE078A063BA3}"/>
              </a:ext>
            </a:extLst>
          </p:cNvPr>
          <p:cNvSpPr>
            <a:spLocks noGrp="1"/>
          </p:cNvSpPr>
          <p:nvPr/>
        </p:nvSpPr>
        <p:spPr>
          <a:xfrm>
            <a:off x="4267200" y="2514600"/>
            <a:ext cx="419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7370A7C-9222-4F18-B26F-B067C6D4AC28}"/>
              </a:ext>
            </a:extLst>
          </p:cNvPr>
          <p:cNvSpPr>
            <a:spLocks noGrp="1"/>
          </p:cNvSpPr>
          <p:nvPr/>
        </p:nvSpPr>
        <p:spPr>
          <a:xfrm>
            <a:off x="4972050" y="2514600"/>
            <a:ext cx="4953000" cy="419100"/>
          </a:xfrm>
          <a:prstGeom prst="rect">
            <a:avLst/>
          </a:prstGeom>
          <a:solidFill>
            <a:srgbClr val="DDFB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F6BCBE0-073B-41A8-8468-09240E2FDCBF}"/>
              </a:ext>
            </a:extLst>
          </p:cNvPr>
          <p:cNvSpPr>
            <a:spLocks noGrp="1"/>
          </p:cNvSpPr>
          <p:nvPr/>
        </p:nvSpPr>
        <p:spPr>
          <a:xfrm>
            <a:off x="5143500" y="2590800"/>
            <a:ext cx="4610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짧은 장면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58D2595-98D6-4BC0-9010-B5A0800B204F}"/>
              </a:ext>
            </a:extLst>
          </p:cNvPr>
          <p:cNvSpPr>
            <a:spLocks noGrp="1"/>
          </p:cNvSpPr>
          <p:nvPr/>
        </p:nvSpPr>
        <p:spPr>
          <a:xfrm>
            <a:off x="876300" y="3143250"/>
            <a:ext cx="2857500" cy="419100"/>
          </a:xfrm>
          <a:prstGeom prst="rect">
            <a:avLst/>
          </a:prstGeom>
          <a:solidFill>
            <a:srgbClr val="EEF4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76599B4-70F5-4D40-B3EA-AA0DC9F7D9C3}"/>
              </a:ext>
            </a:extLst>
          </p:cNvPr>
          <p:cNvSpPr>
            <a:spLocks noGrp="1"/>
          </p:cNvSpPr>
          <p:nvPr/>
        </p:nvSpPr>
        <p:spPr>
          <a:xfrm>
            <a:off x="1047750" y="3219450"/>
            <a:ext cx="2514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긴 설명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569433F-14D1-4438-9D7A-852CDC5EF683}"/>
              </a:ext>
            </a:extLst>
          </p:cNvPr>
          <p:cNvSpPr>
            <a:spLocks noGrp="1"/>
          </p:cNvSpPr>
          <p:nvPr/>
        </p:nvSpPr>
        <p:spPr>
          <a:xfrm>
            <a:off x="4267200" y="3143250"/>
            <a:ext cx="419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133CB04-DE57-40C2-A39E-43ED76CCD0EC}"/>
              </a:ext>
            </a:extLst>
          </p:cNvPr>
          <p:cNvSpPr>
            <a:spLocks noGrp="1"/>
          </p:cNvSpPr>
          <p:nvPr/>
        </p:nvSpPr>
        <p:spPr>
          <a:xfrm>
            <a:off x="4972050" y="3143250"/>
            <a:ext cx="4953000" cy="419100"/>
          </a:xfrm>
          <a:prstGeom prst="rect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F06EDE4-59B0-4CE5-893D-BE455C500378}"/>
              </a:ext>
            </a:extLst>
          </p:cNvPr>
          <p:cNvSpPr>
            <a:spLocks noGrp="1"/>
          </p:cNvSpPr>
          <p:nvPr/>
        </p:nvSpPr>
        <p:spPr>
          <a:xfrm>
            <a:off x="5143500" y="3219450"/>
            <a:ext cx="4610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쉬운 문장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E4073B1-26E0-4298-B821-D1C89B534835}"/>
              </a:ext>
            </a:extLst>
          </p:cNvPr>
          <p:cNvSpPr>
            <a:spLocks noGrp="1"/>
          </p:cNvSpPr>
          <p:nvPr/>
        </p:nvSpPr>
        <p:spPr>
          <a:xfrm>
            <a:off x="876300" y="3771900"/>
            <a:ext cx="2857500" cy="419100"/>
          </a:xfrm>
          <a:prstGeom prst="rect">
            <a:avLst/>
          </a:prstGeom>
          <a:solidFill>
            <a:srgbClr val="EEF4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8F92F2D-4B17-4FA4-AD81-4FBC91E06B57}"/>
              </a:ext>
            </a:extLst>
          </p:cNvPr>
          <p:cNvSpPr>
            <a:spLocks noGrp="1"/>
          </p:cNvSpPr>
          <p:nvPr/>
        </p:nvSpPr>
        <p:spPr>
          <a:xfrm>
            <a:off x="1047750" y="3848100"/>
            <a:ext cx="2514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막연한 행동요령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64ADF4B-253C-450D-A0E2-4790A2CBE360}"/>
              </a:ext>
            </a:extLst>
          </p:cNvPr>
          <p:cNvSpPr>
            <a:spLocks noGrp="1"/>
          </p:cNvSpPr>
          <p:nvPr/>
        </p:nvSpPr>
        <p:spPr>
          <a:xfrm>
            <a:off x="4267200" y="3771900"/>
            <a:ext cx="419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7AF0C20-4CF2-4184-80ED-B2D321D839D9}"/>
              </a:ext>
            </a:extLst>
          </p:cNvPr>
          <p:cNvSpPr>
            <a:spLocks noGrp="1"/>
          </p:cNvSpPr>
          <p:nvPr/>
        </p:nvSpPr>
        <p:spPr>
          <a:xfrm>
            <a:off x="4972050" y="3771900"/>
            <a:ext cx="4953000" cy="419100"/>
          </a:xfrm>
          <a:prstGeom prst="rect">
            <a:avLst/>
          </a:prstGeom>
          <a:solidFill>
            <a:srgbClr val="DDFB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2C2F462-9595-493A-ACFD-D6CDB996D4EC}"/>
              </a:ext>
            </a:extLst>
          </p:cNvPr>
          <p:cNvSpPr>
            <a:spLocks noGrp="1"/>
          </p:cNvSpPr>
          <p:nvPr/>
        </p:nvSpPr>
        <p:spPr>
          <a:xfrm>
            <a:off x="5143500" y="3848100"/>
            <a:ext cx="4610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행동 카드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D56A9DD-BAA8-48A3-86BE-19450D06CB3E}"/>
              </a:ext>
            </a:extLst>
          </p:cNvPr>
          <p:cNvSpPr>
            <a:spLocks noGrp="1"/>
          </p:cNvSpPr>
          <p:nvPr/>
        </p:nvSpPr>
        <p:spPr>
          <a:xfrm>
            <a:off x="876300" y="4400550"/>
            <a:ext cx="2857500" cy="419100"/>
          </a:xfrm>
          <a:prstGeom prst="rect">
            <a:avLst/>
          </a:prstGeom>
          <a:solidFill>
            <a:srgbClr val="EEF4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DD8F456-17DA-40A6-AF0B-5D356F34C691}"/>
              </a:ext>
            </a:extLst>
          </p:cNvPr>
          <p:cNvSpPr>
            <a:spLocks noGrp="1"/>
          </p:cNvSpPr>
          <p:nvPr/>
        </p:nvSpPr>
        <p:spPr>
          <a:xfrm>
            <a:off x="1047750" y="4476750"/>
            <a:ext cx="2514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한 번 보고 끝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BB9127B-9C92-430C-A209-AAFBAED3A6FD}"/>
              </a:ext>
            </a:extLst>
          </p:cNvPr>
          <p:cNvSpPr>
            <a:spLocks noGrp="1"/>
          </p:cNvSpPr>
          <p:nvPr/>
        </p:nvSpPr>
        <p:spPr>
          <a:xfrm>
            <a:off x="4267200" y="4400550"/>
            <a:ext cx="419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1B46009-3149-4D1A-9291-F689650F9500}"/>
              </a:ext>
            </a:extLst>
          </p:cNvPr>
          <p:cNvSpPr>
            <a:spLocks noGrp="1"/>
          </p:cNvSpPr>
          <p:nvPr/>
        </p:nvSpPr>
        <p:spPr>
          <a:xfrm>
            <a:off x="4972050" y="4400550"/>
            <a:ext cx="4953000" cy="419100"/>
          </a:xfrm>
          <a:prstGeom prst="rect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CD83346-F1B5-45EF-9E08-48CA89182BD0}"/>
              </a:ext>
            </a:extLst>
          </p:cNvPr>
          <p:cNvSpPr>
            <a:spLocks noGrp="1"/>
          </p:cNvSpPr>
          <p:nvPr/>
        </p:nvSpPr>
        <p:spPr>
          <a:xfrm>
            <a:off x="5143500" y="4476750"/>
            <a:ext cx="4610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다시 보기와 복습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44A9A75-238A-4340-AE1F-A1C34DE0D480}"/>
              </a:ext>
            </a:extLst>
          </p:cNvPr>
          <p:cNvSpPr>
            <a:spLocks noGrp="1"/>
          </p:cNvSpPr>
          <p:nvPr/>
        </p:nvSpPr>
        <p:spPr>
          <a:xfrm>
            <a:off x="876300" y="5029200"/>
            <a:ext cx="2857500" cy="419100"/>
          </a:xfrm>
          <a:prstGeom prst="rect">
            <a:avLst/>
          </a:prstGeom>
          <a:solidFill>
            <a:srgbClr val="EEF4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88C29F8-CC98-4185-A168-A387E35DD4CA}"/>
              </a:ext>
            </a:extLst>
          </p:cNvPr>
          <p:cNvSpPr>
            <a:spLocks noGrp="1"/>
          </p:cNvSpPr>
          <p:nvPr/>
        </p:nvSpPr>
        <p:spPr>
          <a:xfrm>
            <a:off x="1047750" y="5105400"/>
            <a:ext cx="2514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정답 맞히기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71F84EC-5365-42F6-8A6A-501FDC999425}"/>
              </a:ext>
            </a:extLst>
          </p:cNvPr>
          <p:cNvSpPr>
            <a:spLocks noGrp="1"/>
          </p:cNvSpPr>
          <p:nvPr/>
        </p:nvSpPr>
        <p:spPr>
          <a:xfrm>
            <a:off x="4267200" y="5029200"/>
            <a:ext cx="419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53C0F9A-6018-4B6E-8460-2824D04CD385}"/>
              </a:ext>
            </a:extLst>
          </p:cNvPr>
          <p:cNvSpPr>
            <a:spLocks noGrp="1"/>
          </p:cNvSpPr>
          <p:nvPr/>
        </p:nvSpPr>
        <p:spPr>
          <a:xfrm>
            <a:off x="4972050" y="5029200"/>
            <a:ext cx="4953000" cy="419100"/>
          </a:xfrm>
          <a:prstGeom prst="rect">
            <a:avLst/>
          </a:prstGeom>
          <a:solidFill>
            <a:srgbClr val="DDFB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907A6B5-6CD3-4C86-AAD4-5E4B34A2F156}"/>
              </a:ext>
            </a:extLst>
          </p:cNvPr>
          <p:cNvSpPr>
            <a:spLocks noGrp="1"/>
          </p:cNvSpPr>
          <p:nvPr/>
        </p:nvSpPr>
        <p:spPr>
          <a:xfrm>
            <a:off x="5143500" y="5105400"/>
            <a:ext cx="4610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눌러 보며 한 번 더 기억하기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5086638-ACC3-4C83-BEAE-3F5A125DB9A5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571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rPr>
              <a:t>차근차근 AI 도우미</a:t>
            </a:r>
          </a:p>
        </p:txBody>
      </p:sp>
    </p:spTree>
    <p:extLst>
      <p:ext uri="{BB962C8B-B14F-4D97-AF65-F5344CB8AC3E}">
        <p14:creationId xmlns:p14="http://schemas.microsoft.com/office/powerpoint/2010/main" val="850250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01DD3896-D4F6-44AE-9B26-DC3C81C4B59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F18D1F9-79BF-4334-BBEB-9741061600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8FD3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50660DF-03F7-4C4A-8943-6D1CA5CFC9CF}"/>
              </a:ext>
            </a:extLst>
          </p:cNvPr>
          <p:cNvSpPr>
            <a:spLocks noGrp="1"/>
          </p:cNvSpPr>
          <p:nvPr/>
        </p:nvSpPr>
        <p:spPr>
          <a:xfrm>
            <a:off x="9810750" y="495300"/>
            <a:ext cx="1809750" cy="1809750"/>
          </a:xfrm>
          <a:prstGeom prst="rect">
            <a:avLst/>
          </a:prstGeom>
          <a:solidFill>
            <a:srgbClr val="DDF4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76FA181-41B4-40C0-92BA-4B532FCEDB0A}"/>
              </a:ext>
            </a:extLst>
          </p:cNvPr>
          <p:cNvSpPr>
            <a:spLocks noGrp="1"/>
          </p:cNvSpPr>
          <p:nvPr/>
        </p:nvSpPr>
        <p:spPr>
          <a:xfrm>
            <a:off x="361950" y="5810250"/>
            <a:ext cx="1524000" cy="666750"/>
          </a:xfrm>
          <a:prstGeom prst="rect">
            <a:avLst/>
          </a:prstGeom>
          <a:solidFill>
            <a:srgbClr val="F1FF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948DBCB-8CCF-4C4D-8088-06FADBD6F3E2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14300" cy="361950"/>
          </a:xfrm>
          <a:prstGeom prst="rect">
            <a:avLst/>
          </a:prstGeom>
          <a:solidFill>
            <a:srgbClr val="8FD3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69D1769-2D28-47DC-BD6B-022A783B0797}"/>
              </a:ext>
            </a:extLst>
          </p:cNvPr>
          <p:cNvSpPr>
            <a:spLocks noGrp="1"/>
          </p:cNvSpPr>
          <p:nvPr/>
        </p:nvSpPr>
        <p:spPr>
          <a:xfrm>
            <a:off x="914400" y="457200"/>
            <a:ext cx="5334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AI Agent 구조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DA18AE0-24F7-418C-944A-EC24A4A89FEB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87630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defRPr>
            </a:pPr>
            <a:r>
              <a:rPr sz="360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하나의 답변이 아니라</a:t>
            </a:r>
          </a:p>
          <a:p>
            <a:pPr algn="l">
              <a:defRPr sz="360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defRPr>
            </a:pPr>
            <a:r>
              <a:rPr sz="360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역할이 나뉜 Agent 흐름으로 작동합니다.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FC4715F-0278-40FC-97A9-3B2C4F00B332}"/>
              </a:ext>
            </a:extLst>
          </p:cNvPr>
          <p:cNvSpPr>
            <a:spLocks noGrp="1"/>
          </p:cNvSpPr>
          <p:nvPr/>
        </p:nvSpPr>
        <p:spPr>
          <a:xfrm>
            <a:off x="704850" y="2381250"/>
            <a:ext cx="4838700" cy="1466850"/>
          </a:xfrm>
          <a:prstGeom prst="rect">
            <a:avLst/>
          </a:prstGeom>
          <a:solidFill>
            <a:srgbClr val="EAF7FF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C1B0D76-7E49-467E-93D5-413525FDEFAC}"/>
              </a:ext>
            </a:extLst>
          </p:cNvPr>
          <p:cNvSpPr>
            <a:spLocks noGrp="1"/>
          </p:cNvSpPr>
          <p:nvPr/>
        </p:nvSpPr>
        <p:spPr>
          <a:xfrm>
            <a:off x="914400" y="2609850"/>
            <a:ext cx="44196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영상 분석 Agent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8ED98B1-C13E-4864-A0E5-7EE837D47D7E}"/>
              </a:ext>
            </a:extLst>
          </p:cNvPr>
          <p:cNvSpPr>
            <a:spLocks noGrp="1"/>
          </p:cNvSpPr>
          <p:nvPr/>
        </p:nvSpPr>
        <p:spPr>
          <a:xfrm>
            <a:off x="914400" y="3105150"/>
            <a:ext cx="44196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프레임 샘플, 직접 추출 음성 ASR, 화면 OCR, 컷 후보를</a:t>
            </a:r>
          </a:p>
          <a:p>
            <a:pPr algn="l">
              <a:defRPr sz="13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하나의 시간축 evidence packet으로 정렬합니다.</a:t>
            </a:r>
          </a:p>
          <a:p>
            <a:pPr algn="l">
              <a:defRPr sz="13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한 장면에 하나의 판단 주제만 남깁니다.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A84E317-0330-49DD-8A9B-7E5A35E6BDD7}"/>
              </a:ext>
            </a:extLst>
          </p:cNvPr>
          <p:cNvSpPr>
            <a:spLocks noGrp="1"/>
          </p:cNvSpPr>
          <p:nvPr/>
        </p:nvSpPr>
        <p:spPr>
          <a:xfrm>
            <a:off x="6038850" y="2381250"/>
            <a:ext cx="4838700" cy="1466850"/>
          </a:xfrm>
          <a:prstGeom prst="rect">
            <a:avLst/>
          </a:prstGeom>
          <a:solidFill>
            <a:srgbClr val="FFF3C4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95F2628-4740-4327-A8C3-6B08E1A0465E}"/>
              </a:ext>
            </a:extLst>
          </p:cNvPr>
          <p:cNvSpPr>
            <a:spLocks noGrp="1"/>
          </p:cNvSpPr>
          <p:nvPr/>
        </p:nvSpPr>
        <p:spPr>
          <a:xfrm>
            <a:off x="6248400" y="2609850"/>
            <a:ext cx="44196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재난안전 검토 Agent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CA59BE4-AF78-4A4B-A163-BC4130B0E759}"/>
              </a:ext>
            </a:extLst>
          </p:cNvPr>
          <p:cNvSpPr>
            <a:spLocks noGrp="1"/>
          </p:cNvSpPr>
          <p:nvPr/>
        </p:nvSpPr>
        <p:spPr>
          <a:xfrm>
            <a:off x="6248400" y="3105150"/>
            <a:ext cx="44196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공식 재난안전 자료 RAG로 행동요령을 대조합니다.</a:t>
            </a:r>
          </a:p>
          <a:p>
            <a:pPr algn="l">
              <a:defRPr sz="13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근거가 매칭된 행동, 이유, 금지 행동만</a:t>
            </a:r>
          </a:p>
          <a:p>
            <a:pPr algn="l">
              <a:defRPr sz="13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validated 상태로 공개합니다.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5BA1F09-BC6F-4319-9F39-068F82B0C07F}"/>
              </a:ext>
            </a:extLst>
          </p:cNvPr>
          <p:cNvSpPr>
            <a:spLocks noGrp="1"/>
          </p:cNvSpPr>
          <p:nvPr/>
        </p:nvSpPr>
        <p:spPr>
          <a:xfrm>
            <a:off x="704850" y="4095750"/>
            <a:ext cx="4838700" cy="1466850"/>
          </a:xfrm>
          <a:prstGeom prst="rect">
            <a:avLst/>
          </a:prstGeom>
          <a:solidFill>
            <a:srgbClr val="DDFBEF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9175DA3-78EB-44F8-8B8F-25452AB4DA63}"/>
              </a:ext>
            </a:extLst>
          </p:cNvPr>
          <p:cNvSpPr>
            <a:spLocks noGrp="1"/>
          </p:cNvSpPr>
          <p:nvPr/>
        </p:nvSpPr>
        <p:spPr>
          <a:xfrm>
            <a:off x="914400" y="4324350"/>
            <a:ext cx="44196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쉬운말 변환 Agent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088AA13-7111-4181-90F1-9E52C7D80DBD}"/>
              </a:ext>
            </a:extLst>
          </p:cNvPr>
          <p:cNvSpPr>
            <a:spLocks noGrp="1"/>
          </p:cNvSpPr>
          <p:nvPr/>
        </p:nvSpPr>
        <p:spPr>
          <a:xfrm>
            <a:off x="914400" y="4819650"/>
            <a:ext cx="44196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느린학습자 연구, W3C COGA, Easy Read 원칙을</a:t>
            </a:r>
          </a:p>
          <a:p>
            <a:pPr algn="l">
              <a:defRPr sz="13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문장 길이·어휘·핵심 단어 보존 규칙으로 바꿔</a:t>
            </a:r>
          </a:p>
          <a:p>
            <a:pPr algn="l">
              <a:defRPr sz="13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이해 가능한 카드 문장만 남깁니다.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2016711-565E-4F68-B84F-BC9DEAEABA51}"/>
              </a:ext>
            </a:extLst>
          </p:cNvPr>
          <p:cNvSpPr>
            <a:spLocks noGrp="1"/>
          </p:cNvSpPr>
          <p:nvPr/>
        </p:nvSpPr>
        <p:spPr>
          <a:xfrm>
            <a:off x="6038850" y="4095750"/>
            <a:ext cx="4838700" cy="1466850"/>
          </a:xfrm>
          <a:prstGeom prst="rect">
            <a:avLst/>
          </a:prstGeom>
          <a:solidFill>
            <a:srgbClr val="FFE5E5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EEE808F-C54B-4145-AD26-F54566F59FC1}"/>
              </a:ext>
            </a:extLst>
          </p:cNvPr>
          <p:cNvSpPr>
            <a:spLocks noGrp="1"/>
          </p:cNvSpPr>
          <p:nvPr/>
        </p:nvSpPr>
        <p:spPr>
          <a:xfrm>
            <a:off x="6248400" y="4324350"/>
            <a:ext cx="44196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품질검사 Agent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4469A16-DE84-4F18-8D7C-FB46ACC447E0}"/>
              </a:ext>
            </a:extLst>
          </p:cNvPr>
          <p:cNvSpPr>
            <a:spLocks noGrp="1"/>
          </p:cNvSpPr>
          <p:nvPr/>
        </p:nvSpPr>
        <p:spPr>
          <a:xfrm>
            <a:off x="6248400" y="4819650"/>
            <a:ext cx="44196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LLM-as-a-judge와 결정적 검사 규칙이 함께 봅니다.</a:t>
            </a:r>
          </a:p>
          <a:p>
            <a:pPr algn="l">
              <a:defRPr sz="13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장면 분할, 근거, 쉬운말, 정답 1개, 재생 가능성을</a:t>
            </a:r>
          </a:p>
          <a:p>
            <a:pPr algn="l">
              <a:defRPr sz="13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통과해야만 published 됩니다.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B87DB98-13F2-40DE-A8E9-A729FC52268B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571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rPr>
              <a:t>공식 근거 RAG + 연구 기반 출력 제약 + 자동 품질검사</a:t>
            </a:r>
          </a:p>
        </p:txBody>
      </p:sp>
    </p:spTree>
    <p:extLst>
      <p:ext uri="{BB962C8B-B14F-4D97-AF65-F5344CB8AC3E}">
        <p14:creationId xmlns:p14="http://schemas.microsoft.com/office/powerpoint/2010/main" val="1369386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>
            <a:extLst>
              <a:ext uri="{FF2B5EF4-FFF2-40B4-BE49-F238E27FC236}">
                <a16:creationId xmlns:a16="http://schemas.microsoft.com/office/drawing/2014/main" id="{ECB2E1AB-9FC8-412F-BFE7-C2C4123EF7A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0D37223-85BF-499D-9B40-B3EB3A37D8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8FD3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1CE2669-8915-4CB6-B6A7-DF7A73E06B47}"/>
              </a:ext>
            </a:extLst>
          </p:cNvPr>
          <p:cNvSpPr>
            <a:spLocks noGrp="1"/>
          </p:cNvSpPr>
          <p:nvPr/>
        </p:nvSpPr>
        <p:spPr>
          <a:xfrm>
            <a:off x="9810750" y="495300"/>
            <a:ext cx="1809750" cy="1809750"/>
          </a:xfrm>
          <a:prstGeom prst="rect">
            <a:avLst/>
          </a:prstGeom>
          <a:solidFill>
            <a:srgbClr val="DDF4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B2316D3-A85F-47C7-8B74-BA7E1E26F3D9}"/>
              </a:ext>
            </a:extLst>
          </p:cNvPr>
          <p:cNvSpPr>
            <a:spLocks noGrp="1"/>
          </p:cNvSpPr>
          <p:nvPr/>
        </p:nvSpPr>
        <p:spPr>
          <a:xfrm>
            <a:off x="361950" y="5810250"/>
            <a:ext cx="1524000" cy="666750"/>
          </a:xfrm>
          <a:prstGeom prst="rect">
            <a:avLst/>
          </a:prstGeom>
          <a:solidFill>
            <a:srgbClr val="F1FF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D8C477C-118C-47A9-8081-B24CC3605804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14300" cy="361950"/>
          </a:xfrm>
          <a:prstGeom prst="rect">
            <a:avLst/>
          </a:prstGeom>
          <a:solidFill>
            <a:srgbClr val="8FD3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40DAF4A-8C3E-4F65-9BD2-1049E5F5F201}"/>
              </a:ext>
            </a:extLst>
          </p:cNvPr>
          <p:cNvSpPr>
            <a:spLocks noGrp="1"/>
          </p:cNvSpPr>
          <p:nvPr/>
        </p:nvSpPr>
        <p:spPr>
          <a:xfrm>
            <a:off x="914400" y="457200"/>
            <a:ext cx="5334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영상 분석 Agent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AE0D0A3-784D-49CB-9F8D-A8A0812BB2EF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619125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defRPr>
            </a:pPr>
            <a:r>
              <a:rPr sz="3600" b="1" dirty="0" err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영상을</a:t>
            </a:r>
            <a:r>
              <a:rPr sz="3600" b="1" dirty="0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 </a:t>
            </a:r>
            <a:r>
              <a:rPr sz="3600" b="1" dirty="0" err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바로</a:t>
            </a:r>
            <a:r>
              <a:rPr sz="3600" b="1" dirty="0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 </a:t>
            </a:r>
            <a:r>
              <a:rPr sz="3600" b="1" dirty="0" err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요약하지</a:t>
            </a:r>
            <a:r>
              <a:rPr sz="3600" b="1" dirty="0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 </a:t>
            </a:r>
            <a:r>
              <a:rPr sz="3600" b="1" dirty="0" err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않고</a:t>
            </a:r>
            <a:endParaRPr sz="3600" b="1" dirty="0">
              <a:solidFill>
                <a:srgbClr val="12231D"/>
              </a:solidFill>
              <a:latin typeface="BM DoHyeon OTF"/>
              <a:ea typeface="BM DoHyeon OTF"/>
              <a:cs typeface="BM DoHyeon OTF"/>
            </a:endParaRPr>
          </a:p>
          <a:p>
            <a:pPr algn="l">
              <a:defRPr sz="360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defRPr>
            </a:pPr>
            <a:r>
              <a:rPr sz="3600" b="1" dirty="0" err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먼저</a:t>
            </a:r>
            <a:r>
              <a:rPr sz="3600" b="1" dirty="0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 “</a:t>
            </a:r>
            <a:r>
              <a:rPr lang="ko-KR" altLang="en-US" sz="3600" b="1" dirty="0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근</a:t>
            </a:r>
            <a:r>
              <a:rPr sz="3600" b="1" dirty="0" err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거</a:t>
            </a:r>
            <a:r>
              <a:rPr sz="3600" b="1" dirty="0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 </a:t>
            </a:r>
            <a:r>
              <a:rPr sz="3600" b="1" dirty="0" err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묶음”으로</a:t>
            </a:r>
            <a:endParaRPr sz="3600" b="1" dirty="0">
              <a:solidFill>
                <a:srgbClr val="12231D"/>
              </a:solidFill>
              <a:latin typeface="BM DoHyeon OTF"/>
              <a:ea typeface="BM DoHyeon OTF"/>
              <a:cs typeface="BM DoHyeon OTF"/>
            </a:endParaRPr>
          </a:p>
          <a:p>
            <a:pPr algn="l">
              <a:defRPr sz="360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defRPr>
            </a:pPr>
            <a:r>
              <a:rPr sz="3600" b="1" dirty="0" err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쪼갭니다</a:t>
            </a:r>
            <a:r>
              <a:rPr sz="3600" b="1" dirty="0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B1D66B8-1D2B-4F26-ADF5-613E50A71238}"/>
              </a:ext>
            </a:extLst>
          </p:cNvPr>
          <p:cNvSpPr>
            <a:spLocks noGrp="1"/>
          </p:cNvSpPr>
          <p:nvPr/>
        </p:nvSpPr>
        <p:spPr>
          <a:xfrm>
            <a:off x="685800" y="2905125"/>
            <a:ext cx="61912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알고리즘은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LVLM이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장면을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추측하게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두지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않습니다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  <a:p>
            <a:pPr algn="l">
              <a:defRPr sz="1650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프레임·음성·화면문자·컷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변화를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같은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시간축에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맞춰</a:t>
            </a:r>
            <a:endParaRPr sz="1650" b="0" dirty="0">
              <a:solidFill>
                <a:srgbClr val="12231D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defRPr sz="1650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판단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재료를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고정합니다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34F1C0E-67E7-40F0-AC19-6CBA2CC3B790}"/>
              </a:ext>
            </a:extLst>
          </p:cNvPr>
          <p:cNvSpPr>
            <a:spLocks noGrp="1"/>
          </p:cNvSpPr>
          <p:nvPr/>
        </p:nvSpPr>
        <p:spPr>
          <a:xfrm>
            <a:off x="723900" y="3915713"/>
            <a:ext cx="53340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A0ADCCE-2FC0-4179-A630-CDFA548C80B2}"/>
              </a:ext>
            </a:extLst>
          </p:cNvPr>
          <p:cNvSpPr>
            <a:spLocks noGrp="1"/>
          </p:cNvSpPr>
          <p:nvPr/>
        </p:nvSpPr>
        <p:spPr>
          <a:xfrm>
            <a:off x="933450" y="405765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0.</a:t>
            </a:r>
            <a:r>
              <a:rPr lang="en-US" altLang="ko-KR" sz="1125" b="1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  <a:r>
              <a:rPr sz="1125" b="1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초 </a:t>
            </a:r>
            <a:r>
              <a:rPr sz="1125" b="1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프레임</a:t>
            </a:r>
            <a:r>
              <a:rPr sz="1125" b="1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25" b="1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샘플링</a:t>
            </a:r>
            <a:endParaRPr sz="1125" b="1" dirty="0">
              <a:solidFill>
                <a:srgbClr val="12231D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6973B24-1886-4256-8FA1-B521A57C0B69}"/>
              </a:ext>
            </a:extLst>
          </p:cNvPr>
          <p:cNvSpPr>
            <a:spLocks noGrp="1"/>
          </p:cNvSpPr>
          <p:nvPr/>
        </p:nvSpPr>
        <p:spPr>
          <a:xfrm>
            <a:off x="2781300" y="4057650"/>
            <a:ext cx="3048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화면 변화와 주요 장면 후보를 촘촘히 확보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27CF2EA-FB91-4359-99C1-0C50E0EC6D0D}"/>
              </a:ext>
            </a:extLst>
          </p:cNvPr>
          <p:cNvSpPr>
            <a:spLocks noGrp="1"/>
          </p:cNvSpPr>
          <p:nvPr/>
        </p:nvSpPr>
        <p:spPr>
          <a:xfrm>
            <a:off x="723900" y="4449113"/>
            <a:ext cx="5334000" cy="438150"/>
          </a:xfrm>
          <a:prstGeom prst="rect">
            <a:avLst/>
          </a:prstGeom>
          <a:solidFill>
            <a:srgbClr val="F5FBFF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A69E3BB-3215-4A79-99FA-069270E94D52}"/>
              </a:ext>
            </a:extLst>
          </p:cNvPr>
          <p:cNvSpPr>
            <a:spLocks noGrp="1"/>
          </p:cNvSpPr>
          <p:nvPr/>
        </p:nvSpPr>
        <p:spPr>
          <a:xfrm>
            <a:off x="933450" y="459105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오디오 직접 추출 ASR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277D444-A9F7-4EA0-BC46-3432EA9A21C6}"/>
              </a:ext>
            </a:extLst>
          </p:cNvPr>
          <p:cNvSpPr>
            <a:spLocks noGrp="1"/>
          </p:cNvSpPr>
          <p:nvPr/>
        </p:nvSpPr>
        <p:spPr>
          <a:xfrm>
            <a:off x="2781300" y="4591050"/>
            <a:ext cx="3048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유튜브 자동자막 대신 음성 타임스탬프 생성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766FE39-4A59-4428-A7E4-B33D42355675}"/>
              </a:ext>
            </a:extLst>
          </p:cNvPr>
          <p:cNvSpPr>
            <a:spLocks noGrp="1"/>
          </p:cNvSpPr>
          <p:nvPr/>
        </p:nvSpPr>
        <p:spPr>
          <a:xfrm>
            <a:off x="723900" y="4982513"/>
            <a:ext cx="53340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D0238E5-3DD7-4B0A-93F7-5E4612D7E6AF}"/>
              </a:ext>
            </a:extLst>
          </p:cNvPr>
          <p:cNvSpPr>
            <a:spLocks noGrp="1"/>
          </p:cNvSpPr>
          <p:nvPr/>
        </p:nvSpPr>
        <p:spPr>
          <a:xfrm>
            <a:off x="933450" y="512445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화면 OCR 자막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9046178-CAA6-4EA1-86AB-2DC3F51BD3E1}"/>
              </a:ext>
            </a:extLst>
          </p:cNvPr>
          <p:cNvSpPr>
            <a:spLocks noGrp="1"/>
          </p:cNvSpPr>
          <p:nvPr/>
        </p:nvSpPr>
        <p:spPr>
          <a:xfrm>
            <a:off x="2781300" y="5124450"/>
            <a:ext cx="3048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실제 영상에 뜨는 안내 문구 변화 감지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17592F2-AAA0-48B8-A655-AE8FF13B51D7}"/>
              </a:ext>
            </a:extLst>
          </p:cNvPr>
          <p:cNvSpPr>
            <a:spLocks noGrp="1"/>
          </p:cNvSpPr>
          <p:nvPr/>
        </p:nvSpPr>
        <p:spPr>
          <a:xfrm>
            <a:off x="723900" y="5515913"/>
            <a:ext cx="5334000" cy="438150"/>
          </a:xfrm>
          <a:prstGeom prst="rect">
            <a:avLst/>
          </a:prstGeom>
          <a:solidFill>
            <a:srgbClr val="F5FBFF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D8F26FD-B14D-4356-B261-C0DC161E8D19}"/>
              </a:ext>
            </a:extLst>
          </p:cNvPr>
          <p:cNvSpPr>
            <a:spLocks noGrp="1"/>
          </p:cNvSpPr>
          <p:nvPr/>
        </p:nvSpPr>
        <p:spPr>
          <a:xfrm>
            <a:off x="933450" y="565785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컷 변화량 후보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082A606-0409-4F3D-B889-B18A282F5C71}"/>
              </a:ext>
            </a:extLst>
          </p:cNvPr>
          <p:cNvSpPr>
            <a:spLocks noGrp="1"/>
          </p:cNvSpPr>
          <p:nvPr/>
        </p:nvSpPr>
        <p:spPr>
          <a:xfrm>
            <a:off x="2781300" y="5657850"/>
            <a:ext cx="3048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장면 전환이 큰 지점을 boundary 후보로 기록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292DEFB-DD78-479C-9769-D7DB8763F9B4}"/>
              </a:ext>
            </a:extLst>
          </p:cNvPr>
          <p:cNvSpPr>
            <a:spLocks noGrp="1"/>
          </p:cNvSpPr>
          <p:nvPr/>
        </p:nvSpPr>
        <p:spPr>
          <a:xfrm>
            <a:off x="6572250" y="1200150"/>
            <a:ext cx="4197350" cy="5410200"/>
          </a:xfrm>
          <a:prstGeom prst="rect">
            <a:avLst/>
          </a:prstGeom>
          <a:solidFill>
            <a:srgbClr val="FFFFFF"/>
          </a:solidFill>
          <a:ln w="9525">
            <a:solidFill>
              <a:srgbClr val="B9D3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E069270-26B2-478D-97EB-E61BF5FC8D00}"/>
              </a:ext>
            </a:extLst>
          </p:cNvPr>
          <p:cNvSpPr>
            <a:spLocks noGrp="1"/>
          </p:cNvSpPr>
          <p:nvPr/>
        </p:nvSpPr>
        <p:spPr>
          <a:xfrm>
            <a:off x="6896100" y="1466850"/>
            <a:ext cx="342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0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멀티트랙 생성 계약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6D2C3D4-34C5-49B4-9FC7-229918CD6EC8}"/>
              </a:ext>
            </a:extLst>
          </p:cNvPr>
          <p:cNvSpPr>
            <a:spLocks noGrp="1"/>
          </p:cNvSpPr>
          <p:nvPr/>
        </p:nvSpPr>
        <p:spPr>
          <a:xfrm>
            <a:off x="6896100" y="1957296"/>
            <a:ext cx="400050" cy="400050"/>
          </a:xfrm>
          <a:prstGeom prst="rect">
            <a:avLst/>
          </a:prstGeom>
          <a:solidFill>
            <a:srgbClr val="E7F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8FA3824-159D-4C95-8DAA-2853DC50B934}"/>
              </a:ext>
            </a:extLst>
          </p:cNvPr>
          <p:cNvSpPr>
            <a:spLocks noGrp="1"/>
          </p:cNvSpPr>
          <p:nvPr/>
        </p:nvSpPr>
        <p:spPr>
          <a:xfrm>
            <a:off x="6896100" y="2066925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78C9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78C98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A7D2EB6-85E0-4E38-8CB7-CE1605993645}"/>
              </a:ext>
            </a:extLst>
          </p:cNvPr>
          <p:cNvSpPr>
            <a:spLocks noGrp="1"/>
          </p:cNvSpPr>
          <p:nvPr/>
        </p:nvSpPr>
        <p:spPr>
          <a:xfrm>
            <a:off x="7486650" y="1962150"/>
            <a:ext cx="2762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존재 판정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14447BF-C86C-4FB9-AB3F-AC6AF44CA75F}"/>
              </a:ext>
            </a:extLst>
          </p:cNvPr>
          <p:cNvSpPr>
            <a:spLocks noGrp="1"/>
          </p:cNvSpPr>
          <p:nvPr/>
        </p:nvSpPr>
        <p:spPr>
          <a:xfrm>
            <a:off x="7486650" y="2219325"/>
            <a:ext cx="2762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대사·효과음·배경음·문자 후보를 독립 탐색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EE085F2-E842-4793-82BD-2D1ADE3FACEC}"/>
              </a:ext>
            </a:extLst>
          </p:cNvPr>
          <p:cNvSpPr>
            <a:spLocks noGrp="1"/>
          </p:cNvSpPr>
          <p:nvPr/>
        </p:nvSpPr>
        <p:spPr>
          <a:xfrm>
            <a:off x="8591550" y="2390775"/>
            <a:ext cx="419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↓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7D576A6-B009-440E-9979-594879F407B2}"/>
              </a:ext>
            </a:extLst>
          </p:cNvPr>
          <p:cNvSpPr>
            <a:spLocks noGrp="1"/>
          </p:cNvSpPr>
          <p:nvPr/>
        </p:nvSpPr>
        <p:spPr>
          <a:xfrm>
            <a:off x="6896100" y="2742452"/>
            <a:ext cx="400050" cy="400050"/>
          </a:xfrm>
          <a:prstGeom prst="rect">
            <a:avLst/>
          </a:prstGeom>
          <a:solidFill>
            <a:srgbClr val="E7F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074D7C9-236D-46C3-B395-AE66F299A457}"/>
              </a:ext>
            </a:extLst>
          </p:cNvPr>
          <p:cNvSpPr>
            <a:spLocks noGrp="1"/>
          </p:cNvSpPr>
          <p:nvPr/>
        </p:nvSpPr>
        <p:spPr>
          <a:xfrm>
            <a:off x="6896100" y="2852081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78C9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78C98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D64D626-0DA2-4693-9681-2BFD15003043}"/>
              </a:ext>
            </a:extLst>
          </p:cNvPr>
          <p:cNvSpPr>
            <a:spLocks noGrp="1"/>
          </p:cNvSpPr>
          <p:nvPr/>
        </p:nvSpPr>
        <p:spPr>
          <a:xfrm>
            <a:off x="7486650" y="2747306"/>
            <a:ext cx="2762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후보 보존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6EA9EA1-D461-47AF-B90B-A2816594DA26}"/>
              </a:ext>
            </a:extLst>
          </p:cNvPr>
          <p:cNvSpPr>
            <a:spLocks noGrp="1"/>
          </p:cNvSpPr>
          <p:nvPr/>
        </p:nvSpPr>
        <p:spPr>
          <a:xfrm>
            <a:off x="7486650" y="3004481"/>
            <a:ext cx="2762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근거가 약한 소리는 제외 조건으로 분리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49D9F89-48BC-41E1-8B08-AC7A34B559B3}"/>
              </a:ext>
            </a:extLst>
          </p:cNvPr>
          <p:cNvSpPr>
            <a:spLocks noGrp="1"/>
          </p:cNvSpPr>
          <p:nvPr/>
        </p:nvSpPr>
        <p:spPr>
          <a:xfrm>
            <a:off x="8591550" y="3175931"/>
            <a:ext cx="419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↓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167C278-F3FC-4913-9D4D-2008B3BC7FD9}"/>
              </a:ext>
            </a:extLst>
          </p:cNvPr>
          <p:cNvSpPr>
            <a:spLocks noGrp="1"/>
          </p:cNvSpPr>
          <p:nvPr/>
        </p:nvSpPr>
        <p:spPr>
          <a:xfrm>
            <a:off x="6896100" y="3503707"/>
            <a:ext cx="400050" cy="400050"/>
          </a:xfrm>
          <a:prstGeom prst="rect">
            <a:avLst/>
          </a:prstGeom>
          <a:solidFill>
            <a:srgbClr val="E7F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5CBE6EA-8124-4A96-8137-C0B82803D24B}"/>
              </a:ext>
            </a:extLst>
          </p:cNvPr>
          <p:cNvSpPr>
            <a:spLocks noGrp="1"/>
          </p:cNvSpPr>
          <p:nvPr/>
        </p:nvSpPr>
        <p:spPr>
          <a:xfrm>
            <a:off x="6896100" y="3613336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78C9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78C98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64C2AC3-81D3-4A11-B570-3ADC514D48B9}"/>
              </a:ext>
            </a:extLst>
          </p:cNvPr>
          <p:cNvSpPr>
            <a:spLocks noGrp="1"/>
          </p:cNvSpPr>
          <p:nvPr/>
        </p:nvSpPr>
        <p:spPr>
          <a:xfrm>
            <a:off x="7486650" y="3508561"/>
            <a:ext cx="2762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Atomic 사건 분리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03EB360-81E2-4BE0-9851-835D51544BC8}"/>
              </a:ext>
            </a:extLst>
          </p:cNvPr>
          <p:cNvSpPr>
            <a:spLocks noGrp="1"/>
          </p:cNvSpPr>
          <p:nvPr/>
        </p:nvSpPr>
        <p:spPr>
          <a:xfrm>
            <a:off x="7486650" y="3765736"/>
            <a:ext cx="2762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한 항목에는 한 소리 원인과 한 트랙만 남김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06DD9EE-CD76-4ACF-9B44-B5854A643DC0}"/>
              </a:ext>
            </a:extLst>
          </p:cNvPr>
          <p:cNvSpPr>
            <a:spLocks noGrp="1"/>
          </p:cNvSpPr>
          <p:nvPr/>
        </p:nvSpPr>
        <p:spPr>
          <a:xfrm>
            <a:off x="8591550" y="3937186"/>
            <a:ext cx="419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↓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72D5E990-4F5E-42C1-B98D-4E071D57C03C}"/>
              </a:ext>
            </a:extLst>
          </p:cNvPr>
          <p:cNvSpPr>
            <a:spLocks noGrp="1"/>
          </p:cNvSpPr>
          <p:nvPr/>
        </p:nvSpPr>
        <p:spPr>
          <a:xfrm>
            <a:off x="6896100" y="4270932"/>
            <a:ext cx="400050" cy="400050"/>
          </a:xfrm>
          <a:prstGeom prst="rect">
            <a:avLst/>
          </a:prstGeom>
          <a:solidFill>
            <a:srgbClr val="E7F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1C7229BD-F639-454F-B728-2694228451D8}"/>
              </a:ext>
            </a:extLst>
          </p:cNvPr>
          <p:cNvSpPr>
            <a:spLocks noGrp="1"/>
          </p:cNvSpPr>
          <p:nvPr/>
        </p:nvSpPr>
        <p:spPr>
          <a:xfrm>
            <a:off x="6896100" y="4380561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78C9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78C98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115C97B-4EAA-4CEE-B490-6E550E378C75}"/>
              </a:ext>
            </a:extLst>
          </p:cNvPr>
          <p:cNvSpPr>
            <a:spLocks noGrp="1"/>
          </p:cNvSpPr>
          <p:nvPr/>
        </p:nvSpPr>
        <p:spPr>
          <a:xfrm>
            <a:off x="7486650" y="4275786"/>
            <a:ext cx="2762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시간 경계 축소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1C2D760-EC13-45F9-912A-98611D42E994}"/>
              </a:ext>
            </a:extLst>
          </p:cNvPr>
          <p:cNvSpPr>
            <a:spLocks noGrp="1"/>
          </p:cNvSpPr>
          <p:nvPr/>
        </p:nvSpPr>
        <p:spPr>
          <a:xfrm>
            <a:off x="7486650" y="4532961"/>
            <a:ext cx="2762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활성 근거가 보이는 구간으로 시작/끝 좁힘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B4F3B7E-2DC5-43E1-BF83-56DF35BC7B65}"/>
              </a:ext>
            </a:extLst>
          </p:cNvPr>
          <p:cNvSpPr>
            <a:spLocks noGrp="1"/>
          </p:cNvSpPr>
          <p:nvPr/>
        </p:nvSpPr>
        <p:spPr>
          <a:xfrm>
            <a:off x="8591550" y="4704411"/>
            <a:ext cx="419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↓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4A9ADE5-1FC2-4860-B1DD-BA0C175B5C33}"/>
              </a:ext>
            </a:extLst>
          </p:cNvPr>
          <p:cNvSpPr>
            <a:spLocks noGrp="1"/>
          </p:cNvSpPr>
          <p:nvPr/>
        </p:nvSpPr>
        <p:spPr>
          <a:xfrm>
            <a:off x="6896100" y="5175620"/>
            <a:ext cx="400050" cy="400050"/>
          </a:xfrm>
          <a:prstGeom prst="rect">
            <a:avLst/>
          </a:prstGeom>
          <a:solidFill>
            <a:srgbClr val="E7F6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866303E-1D16-43A1-B683-B5065EEC04B7}"/>
              </a:ext>
            </a:extLst>
          </p:cNvPr>
          <p:cNvSpPr>
            <a:spLocks noGrp="1"/>
          </p:cNvSpPr>
          <p:nvPr/>
        </p:nvSpPr>
        <p:spPr>
          <a:xfrm>
            <a:off x="6896100" y="5285249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78C9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78C98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8F7378CB-1EC5-417C-AC15-A33B5D4BF0F5}"/>
              </a:ext>
            </a:extLst>
          </p:cNvPr>
          <p:cNvSpPr>
            <a:spLocks noGrp="1"/>
          </p:cNvSpPr>
          <p:nvPr/>
        </p:nvSpPr>
        <p:spPr>
          <a:xfrm>
            <a:off x="7486650" y="5180474"/>
            <a:ext cx="2762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생성</a:t>
            </a:r>
            <a:r>
              <a:rPr sz="1500" b="1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1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입력</a:t>
            </a:r>
            <a:r>
              <a:rPr sz="1500" b="1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1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직렬화</a:t>
            </a:r>
            <a:endParaRPr sz="1500" b="1" dirty="0">
              <a:solidFill>
                <a:srgbClr val="12231D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750B6109-AC40-43AA-A82C-847B6C8F9593}"/>
              </a:ext>
            </a:extLst>
          </p:cNvPr>
          <p:cNvSpPr>
            <a:spLocks noGrp="1"/>
          </p:cNvSpPr>
          <p:nvPr/>
        </p:nvSpPr>
        <p:spPr>
          <a:xfrm>
            <a:off x="7486650" y="5437649"/>
            <a:ext cx="2762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track, start, end, event, evidence를 구조화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607FFA75-C179-4748-8E3C-49E4C1DB8A31}"/>
              </a:ext>
            </a:extLst>
          </p:cNvPr>
          <p:cNvSpPr>
            <a:spLocks noGrp="1"/>
          </p:cNvSpPr>
          <p:nvPr/>
        </p:nvSpPr>
        <p:spPr>
          <a:xfrm>
            <a:off x="6905625" y="6043146"/>
            <a:ext cx="3429000" cy="419100"/>
          </a:xfrm>
          <a:prstGeom prst="rect">
            <a:avLst/>
          </a:prstGeom>
          <a:solidFill>
            <a:srgbClr val="12231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6184DA18-180A-4C59-96E3-CF28962FD6EF}"/>
              </a:ext>
            </a:extLst>
          </p:cNvPr>
          <p:cNvSpPr>
            <a:spLocks noGrp="1"/>
          </p:cNvSpPr>
          <p:nvPr/>
        </p:nvSpPr>
        <p:spPr>
          <a:xfrm>
            <a:off x="7067550" y="6147921"/>
            <a:ext cx="3105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결과: 한 장면 = 한 판단 주제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59FC5A8D-05B1-4651-842E-D1A95779A214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571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dirty="0" err="1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rPr>
              <a:t>핵심</a:t>
            </a:r>
            <a:r>
              <a:rPr sz="1125" b="0" dirty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rPr>
              <a:t>: LVLM </a:t>
            </a:r>
            <a:r>
              <a:rPr sz="1125" b="0" dirty="0" err="1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rPr>
              <a:t>호출보다</a:t>
            </a:r>
            <a:r>
              <a:rPr sz="1125" b="0" dirty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25" b="0" dirty="0" err="1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rPr>
              <a:t>먼저</a:t>
            </a:r>
            <a:r>
              <a:rPr sz="1125" b="0" dirty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lang="ko-KR" altLang="en-US" sz="1125" dirty="0" err="1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rPr>
              <a:t>파이썬을</a:t>
            </a:r>
            <a:r>
              <a:rPr lang="ko-KR" altLang="en-US" sz="1125" dirty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rPr>
              <a:t> 이용한</a:t>
            </a:r>
            <a:r>
              <a:rPr sz="1125" b="0" dirty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rPr>
              <a:t> evidence </a:t>
            </a:r>
            <a:r>
              <a:rPr sz="1125" b="0" dirty="0" err="1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rPr>
              <a:t>packet과</a:t>
            </a:r>
            <a:r>
              <a:rPr sz="1125" b="0" dirty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25" b="0" dirty="0" err="1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rPr>
              <a:t>장면</a:t>
            </a:r>
            <a:r>
              <a:rPr sz="1125" b="0" dirty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25" b="0" dirty="0" err="1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rPr>
              <a:t>경계</a:t>
            </a:r>
            <a:r>
              <a:rPr sz="1125" b="0" dirty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25" b="0" dirty="0" err="1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rPr>
              <a:t>계약을</a:t>
            </a:r>
            <a:r>
              <a:rPr sz="1125" b="0" dirty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25" b="0" dirty="0" err="1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rPr>
              <a:t>설계합니다</a:t>
            </a:r>
            <a:r>
              <a:rPr sz="1125" b="0" dirty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588010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직사각형 37">
            <a:extLst>
              <a:ext uri="{FF2B5EF4-FFF2-40B4-BE49-F238E27FC236}">
                <a16:creationId xmlns:a16="http://schemas.microsoft.com/office/drawing/2014/main" id="{5817E7E1-C431-4152-9D56-5FC82E7C1B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E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389A5D5-5A4A-4120-92EB-D99DB981D5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7BE0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717CF47-C825-4767-AE2B-27FDA70D985A}"/>
              </a:ext>
            </a:extLst>
          </p:cNvPr>
          <p:cNvSpPr>
            <a:spLocks noGrp="1"/>
          </p:cNvSpPr>
          <p:nvPr/>
        </p:nvSpPr>
        <p:spPr>
          <a:xfrm>
            <a:off x="9810750" y="495300"/>
            <a:ext cx="1809750" cy="1809750"/>
          </a:xfrm>
          <a:prstGeom prst="rect">
            <a:avLst/>
          </a:prstGeom>
          <a:solidFill>
            <a:srgbClr val="E6FF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5CE2E68-AEE9-45B5-86DD-067095455FEF}"/>
              </a:ext>
            </a:extLst>
          </p:cNvPr>
          <p:cNvSpPr>
            <a:spLocks noGrp="1"/>
          </p:cNvSpPr>
          <p:nvPr/>
        </p:nvSpPr>
        <p:spPr>
          <a:xfrm>
            <a:off x="361950" y="5810250"/>
            <a:ext cx="1524000" cy="666750"/>
          </a:xfrm>
          <a:prstGeom prst="rect">
            <a:avLst/>
          </a:prstGeom>
          <a:solidFill>
            <a:srgbClr val="EAF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B620178-7803-4F89-8E73-4DFD7A4C111A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14300" cy="361950"/>
          </a:xfrm>
          <a:prstGeom prst="rect">
            <a:avLst/>
          </a:prstGeom>
          <a:solidFill>
            <a:srgbClr val="7BE0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B5D6DFC-16A2-4DCA-BFC4-18B22A0CEEC5}"/>
              </a:ext>
            </a:extLst>
          </p:cNvPr>
          <p:cNvSpPr>
            <a:spLocks noGrp="1"/>
          </p:cNvSpPr>
          <p:nvPr/>
        </p:nvSpPr>
        <p:spPr>
          <a:xfrm>
            <a:off x="914400" y="457200"/>
            <a:ext cx="5334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재난안전 검토 Agent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318C3FE-1707-4E08-B8EF-F94B6723E875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6477000" cy="1714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75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defRPr>
            </a:pPr>
            <a:r>
              <a:rPr sz="375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공식 근거 없는 행동은</a:t>
            </a:r>
          </a:p>
          <a:p>
            <a:pPr algn="l">
              <a:defRPr sz="375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defRPr>
            </a:pPr>
            <a:r>
              <a:rPr sz="375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학습 화면에</a:t>
            </a:r>
          </a:p>
          <a:p>
            <a:pPr algn="l">
              <a:defRPr sz="375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defRPr>
            </a:pPr>
            <a:r>
              <a:rPr sz="375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올라가지 못합니다.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728ACFD-22CF-4F26-9570-9CCEEFFF225E}"/>
              </a:ext>
            </a:extLst>
          </p:cNvPr>
          <p:cNvSpPr>
            <a:spLocks noGrp="1"/>
          </p:cNvSpPr>
          <p:nvPr/>
        </p:nvSpPr>
        <p:spPr>
          <a:xfrm>
            <a:off x="685800" y="3028950"/>
            <a:ext cx="6096000" cy="1009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생성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문장을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믿는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것이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아니라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,</a:t>
            </a:r>
            <a:br>
              <a:rPr lang="en-US"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</a:b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장면별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행동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후보를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공식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재난안전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규칙과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다시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매칭합니다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  <a:p>
            <a:pPr algn="l">
              <a:defRPr sz="1650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RAG </a:t>
            </a: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검색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결과가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행동·이유·금지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행동을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뒷받침할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때만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br>
              <a:rPr lang="en-US"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</a:b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validated로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공개합니다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F6D734F-87FD-4773-91AA-8CE643ED000A}"/>
              </a:ext>
            </a:extLst>
          </p:cNvPr>
          <p:cNvSpPr>
            <a:spLocks noGrp="1"/>
          </p:cNvSpPr>
          <p:nvPr/>
        </p:nvSpPr>
        <p:spPr>
          <a:xfrm>
            <a:off x="742950" y="4210050"/>
            <a:ext cx="5334000" cy="1028700"/>
          </a:xfrm>
          <a:prstGeom prst="rect">
            <a:avLst/>
          </a:prstGeom>
          <a:solidFill>
            <a:srgbClr val="FFF3C4"/>
          </a:solidFill>
          <a:ln w="9525">
            <a:solidFill>
              <a:srgbClr val="F5C8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93BA2FD-8F36-4A91-B84A-512313A316FD}"/>
              </a:ext>
            </a:extLst>
          </p:cNvPr>
          <p:cNvSpPr>
            <a:spLocks noGrp="1"/>
          </p:cNvSpPr>
          <p:nvPr/>
        </p:nvSpPr>
        <p:spPr>
          <a:xfrm>
            <a:off x="990600" y="4457700"/>
            <a:ext cx="485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검토 대상은 “좋아 보이는 문장”이 아니라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010BF5B-7921-4AC0-AD69-952A387474AE}"/>
              </a:ext>
            </a:extLst>
          </p:cNvPr>
          <p:cNvSpPr>
            <a:spLocks noGrp="1"/>
          </p:cNvSpPr>
          <p:nvPr/>
        </p:nvSpPr>
        <p:spPr>
          <a:xfrm>
            <a:off x="990600" y="4791075"/>
            <a:ext cx="485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F2D1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F2D13"/>
                </a:solidFill>
                <a:latin typeface="Apple SD Gothic Neo"/>
                <a:ea typeface="Apple SD Gothic Neo"/>
                <a:cs typeface="Apple SD Gothic Neo"/>
              </a:rPr>
              <a:t>행동 카드 · 이유 · 하지 말아요 · 확인 질문입니다.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05DB384-96AE-4228-B7B0-8F3DEAD7916C}"/>
              </a:ext>
            </a:extLst>
          </p:cNvPr>
          <p:cNvSpPr>
            <a:spLocks noGrp="1"/>
          </p:cNvSpPr>
          <p:nvPr/>
        </p:nvSpPr>
        <p:spPr>
          <a:xfrm>
            <a:off x="6819900" y="1104900"/>
            <a:ext cx="3562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Official RAG Corpus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76AE676-8A8B-41F6-95E9-044CE00E560C}"/>
              </a:ext>
            </a:extLst>
          </p:cNvPr>
          <p:cNvSpPr>
            <a:spLocks noGrp="1"/>
          </p:cNvSpPr>
          <p:nvPr/>
        </p:nvSpPr>
        <p:spPr>
          <a:xfrm>
            <a:off x="6686550" y="1600200"/>
            <a:ext cx="1695450" cy="381000"/>
          </a:xfrm>
          <a:prstGeom prst="rect">
            <a:avLst/>
          </a:prstGeom>
          <a:solidFill>
            <a:srgbClr val="EAF7FF"/>
          </a:solidFill>
          <a:ln w="9525">
            <a:solidFill>
              <a:srgbClr val="CFE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B17CD10-6B24-4F0B-9847-12DA6B464847}"/>
              </a:ext>
            </a:extLst>
          </p:cNvPr>
          <p:cNvSpPr>
            <a:spLocks noGrp="1"/>
          </p:cNvSpPr>
          <p:nvPr/>
        </p:nvSpPr>
        <p:spPr>
          <a:xfrm>
            <a:off x="6800850" y="1695450"/>
            <a:ext cx="1466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국민재난안전포털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9874951-4896-45C4-B9C1-6BCB84A4447D}"/>
              </a:ext>
            </a:extLst>
          </p:cNvPr>
          <p:cNvSpPr>
            <a:spLocks noGrp="1"/>
          </p:cNvSpPr>
          <p:nvPr/>
        </p:nvSpPr>
        <p:spPr>
          <a:xfrm>
            <a:off x="8553450" y="1600200"/>
            <a:ext cx="16954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0B120B3-50FE-44BB-8FC4-C566CE742170}"/>
              </a:ext>
            </a:extLst>
          </p:cNvPr>
          <p:cNvSpPr>
            <a:spLocks noGrp="1"/>
          </p:cNvSpPr>
          <p:nvPr/>
        </p:nvSpPr>
        <p:spPr>
          <a:xfrm>
            <a:off x="8667750" y="1695450"/>
            <a:ext cx="1466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안전한TV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9C180A1-4C8C-450C-B712-4C70A6CD1F1A}"/>
              </a:ext>
            </a:extLst>
          </p:cNvPr>
          <p:cNvSpPr>
            <a:spLocks noGrp="1"/>
          </p:cNvSpPr>
          <p:nvPr/>
        </p:nvSpPr>
        <p:spPr>
          <a:xfrm>
            <a:off x="6686550" y="2114550"/>
            <a:ext cx="1695450" cy="381000"/>
          </a:xfrm>
          <a:prstGeom prst="rect">
            <a:avLst/>
          </a:prstGeom>
          <a:solidFill>
            <a:srgbClr val="EAF7FF"/>
          </a:solidFill>
          <a:ln w="9525">
            <a:solidFill>
              <a:srgbClr val="CFE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BF84C9D-1AA0-44D2-AA81-C195845F141E}"/>
              </a:ext>
            </a:extLst>
          </p:cNvPr>
          <p:cNvSpPr>
            <a:spLocks noGrp="1"/>
          </p:cNvSpPr>
          <p:nvPr/>
        </p:nvSpPr>
        <p:spPr>
          <a:xfrm>
            <a:off x="6800850" y="2209800"/>
            <a:ext cx="1466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행정안전부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45EEC2D-2705-4E5A-A3D3-DA1E02CE0A15}"/>
              </a:ext>
            </a:extLst>
          </p:cNvPr>
          <p:cNvSpPr>
            <a:spLocks noGrp="1"/>
          </p:cNvSpPr>
          <p:nvPr/>
        </p:nvSpPr>
        <p:spPr>
          <a:xfrm>
            <a:off x="8553450" y="2114550"/>
            <a:ext cx="16954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EB1303E-3FF8-4E44-B06F-C90B22EC4889}"/>
              </a:ext>
            </a:extLst>
          </p:cNvPr>
          <p:cNvSpPr>
            <a:spLocks noGrp="1"/>
          </p:cNvSpPr>
          <p:nvPr/>
        </p:nvSpPr>
        <p:spPr>
          <a:xfrm>
            <a:off x="8667750" y="2209800"/>
            <a:ext cx="1466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소방청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BED3319-06D0-4C28-845C-F1C4AC2F4402}"/>
              </a:ext>
            </a:extLst>
          </p:cNvPr>
          <p:cNvSpPr>
            <a:spLocks noGrp="1"/>
          </p:cNvSpPr>
          <p:nvPr/>
        </p:nvSpPr>
        <p:spPr>
          <a:xfrm>
            <a:off x="6686550" y="2628900"/>
            <a:ext cx="1695450" cy="381000"/>
          </a:xfrm>
          <a:prstGeom prst="rect">
            <a:avLst/>
          </a:prstGeom>
          <a:solidFill>
            <a:srgbClr val="EAF7FF"/>
          </a:solidFill>
          <a:ln w="9525">
            <a:solidFill>
              <a:srgbClr val="CFE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A275F13-568E-469D-9241-1271030664D8}"/>
              </a:ext>
            </a:extLst>
          </p:cNvPr>
          <p:cNvSpPr>
            <a:spLocks noGrp="1"/>
          </p:cNvSpPr>
          <p:nvPr/>
        </p:nvSpPr>
        <p:spPr>
          <a:xfrm>
            <a:off x="6800850" y="2724150"/>
            <a:ext cx="1466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기상청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D697D82-1110-4B43-A4DF-D59E2A8CEA99}"/>
              </a:ext>
            </a:extLst>
          </p:cNvPr>
          <p:cNvSpPr>
            <a:spLocks noGrp="1"/>
          </p:cNvSpPr>
          <p:nvPr/>
        </p:nvSpPr>
        <p:spPr>
          <a:xfrm>
            <a:off x="8553450" y="2628900"/>
            <a:ext cx="16954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6561209-D2CD-4EB6-9213-C07CBA9DEE42}"/>
              </a:ext>
            </a:extLst>
          </p:cNvPr>
          <p:cNvSpPr>
            <a:spLocks noGrp="1"/>
          </p:cNvSpPr>
          <p:nvPr/>
        </p:nvSpPr>
        <p:spPr>
          <a:xfrm>
            <a:off x="8667750" y="2724150"/>
            <a:ext cx="1466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한국장애인개발원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7BCBF24-936B-4861-AEC2-A480F7972312}"/>
              </a:ext>
            </a:extLst>
          </p:cNvPr>
          <p:cNvSpPr>
            <a:spLocks noGrp="1"/>
          </p:cNvSpPr>
          <p:nvPr/>
        </p:nvSpPr>
        <p:spPr>
          <a:xfrm>
            <a:off x="6686550" y="3399120"/>
            <a:ext cx="3784226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2AC9EFD-BB7F-4E50-8DD8-8F2DB4B4487D}"/>
              </a:ext>
            </a:extLst>
          </p:cNvPr>
          <p:cNvSpPr>
            <a:spLocks noGrp="1"/>
          </p:cNvSpPr>
          <p:nvPr/>
        </p:nvSpPr>
        <p:spPr>
          <a:xfrm>
            <a:off x="6877050" y="3505200"/>
            <a:ext cx="1447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Hazard/Topic 스키마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6D68379-4638-4033-9CF8-17480DCFE4AA}"/>
              </a:ext>
            </a:extLst>
          </p:cNvPr>
          <p:cNvSpPr>
            <a:spLocks noGrp="1"/>
          </p:cNvSpPr>
          <p:nvPr/>
        </p:nvSpPr>
        <p:spPr>
          <a:xfrm>
            <a:off x="8401050" y="3514725"/>
            <a:ext cx="1981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 dirty="0" err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폭염·화재·지진</a:t>
            </a:r>
            <a:r>
              <a:rPr sz="975" b="0" dirty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75" b="0" dirty="0" err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등</a:t>
            </a:r>
            <a:r>
              <a:rPr sz="975" b="0" dirty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75" b="0" dirty="0" err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재난</a:t>
            </a:r>
            <a:r>
              <a:rPr sz="975" b="0" dirty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75" b="0" dirty="0" err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유형을</a:t>
            </a:r>
            <a:r>
              <a:rPr sz="975" b="0" dirty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75" b="0" dirty="0" err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먼저</a:t>
            </a:r>
            <a:r>
              <a:rPr sz="975" b="0" dirty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75" b="0" dirty="0" err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고정</a:t>
            </a:r>
            <a:endParaRPr sz="975" b="0" dirty="0">
              <a:solidFill>
                <a:srgbClr val="51645C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3051F26-CA12-4CA6-8C06-2B2CD7DA7076}"/>
              </a:ext>
            </a:extLst>
          </p:cNvPr>
          <p:cNvSpPr>
            <a:spLocks noGrp="1"/>
          </p:cNvSpPr>
          <p:nvPr/>
        </p:nvSpPr>
        <p:spPr>
          <a:xfrm>
            <a:off x="6686550" y="3962400"/>
            <a:ext cx="3784226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E862501-D283-4FCB-B39E-67AD6C39884A}"/>
              </a:ext>
            </a:extLst>
          </p:cNvPr>
          <p:cNvSpPr>
            <a:spLocks noGrp="1"/>
          </p:cNvSpPr>
          <p:nvPr/>
        </p:nvSpPr>
        <p:spPr>
          <a:xfrm>
            <a:off x="6823266" y="4068484"/>
            <a:ext cx="1447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Semantic Rule Match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68021F7-1C37-4345-9D56-1BB016C2F609}"/>
              </a:ext>
            </a:extLst>
          </p:cNvPr>
          <p:cNvSpPr>
            <a:spLocks noGrp="1"/>
          </p:cNvSpPr>
          <p:nvPr/>
        </p:nvSpPr>
        <p:spPr>
          <a:xfrm>
            <a:off x="8323358" y="4083984"/>
            <a:ext cx="2164976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 dirty="0" err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행동</a:t>
            </a:r>
            <a:r>
              <a:rPr sz="975" b="0" dirty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75" b="0" dirty="0" err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후보와</a:t>
            </a:r>
            <a:r>
              <a:rPr sz="975" b="0" dirty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75" b="0" dirty="0" err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공식</a:t>
            </a:r>
            <a:r>
              <a:rPr sz="975" b="0" dirty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75" b="0" dirty="0" err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행동요령의</a:t>
            </a:r>
            <a:r>
              <a:rPr sz="975" b="0" dirty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75" b="0" dirty="0" err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의미</a:t>
            </a:r>
            <a:r>
              <a:rPr sz="975" b="0" dirty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75" b="0" dirty="0" err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일치</a:t>
            </a:r>
            <a:r>
              <a:rPr sz="975" b="0" dirty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75" b="0" dirty="0" err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확인</a:t>
            </a:r>
            <a:endParaRPr sz="975" b="0" dirty="0">
              <a:solidFill>
                <a:srgbClr val="51645C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E2431EF-39AE-4F93-9EA4-C6064BD9BA10}"/>
              </a:ext>
            </a:extLst>
          </p:cNvPr>
          <p:cNvSpPr>
            <a:spLocks noGrp="1"/>
          </p:cNvSpPr>
          <p:nvPr/>
        </p:nvSpPr>
        <p:spPr>
          <a:xfrm>
            <a:off x="6686549" y="4495800"/>
            <a:ext cx="3784225" cy="400050"/>
          </a:xfrm>
          <a:prstGeom prst="rect">
            <a:avLst/>
          </a:prstGeom>
          <a:solidFill>
            <a:srgbClr val="DDFBEF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BC22C51-D7E7-4A1D-983A-5E780EBF071C}"/>
              </a:ext>
            </a:extLst>
          </p:cNvPr>
          <p:cNvSpPr>
            <a:spLocks noGrp="1"/>
          </p:cNvSpPr>
          <p:nvPr/>
        </p:nvSpPr>
        <p:spPr>
          <a:xfrm>
            <a:off x="6877050" y="4595904"/>
            <a:ext cx="1447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Grounded Output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5A44EE3-EF5A-4193-820B-8B10509EBB18}"/>
              </a:ext>
            </a:extLst>
          </p:cNvPr>
          <p:cNvSpPr>
            <a:spLocks noGrp="1"/>
          </p:cNvSpPr>
          <p:nvPr/>
        </p:nvSpPr>
        <p:spPr>
          <a:xfrm>
            <a:off x="8401050" y="4611405"/>
            <a:ext cx="1790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 dirty="0" err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근거가</a:t>
            </a:r>
            <a:r>
              <a:rPr sz="975" b="0" dirty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75" b="0" dirty="0" err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있는</a:t>
            </a:r>
            <a:r>
              <a:rPr sz="975" b="0" dirty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75" b="0" dirty="0" err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안내만</a:t>
            </a:r>
            <a:r>
              <a:rPr sz="975" b="0" dirty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75" b="0" dirty="0" err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validated로</a:t>
            </a:r>
            <a:r>
              <a:rPr sz="975" b="0" dirty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75" b="0" dirty="0" err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공개</a:t>
            </a:r>
            <a:endParaRPr sz="975" b="0" dirty="0">
              <a:solidFill>
                <a:srgbClr val="51645C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FD457EA-E931-465A-8414-2F9C3AA1E279}"/>
              </a:ext>
            </a:extLst>
          </p:cNvPr>
          <p:cNvSpPr>
            <a:spLocks noGrp="1"/>
          </p:cNvSpPr>
          <p:nvPr/>
        </p:nvSpPr>
        <p:spPr>
          <a:xfrm>
            <a:off x="6686550" y="5029200"/>
            <a:ext cx="3784224" cy="400050"/>
          </a:xfrm>
          <a:prstGeom prst="rect">
            <a:avLst/>
          </a:prstGeom>
          <a:solidFill>
            <a:srgbClr val="FFE5E5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53F0199-2E33-42B8-8CB5-5ED7A85109D8}"/>
              </a:ext>
            </a:extLst>
          </p:cNvPr>
          <p:cNvSpPr>
            <a:spLocks noGrp="1"/>
          </p:cNvSpPr>
          <p:nvPr/>
        </p:nvSpPr>
        <p:spPr>
          <a:xfrm>
            <a:off x="6877050" y="5129304"/>
            <a:ext cx="1447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Ungrounded Block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D09B23C-9D91-4CF0-ADDC-5CD57E39CFCE}"/>
              </a:ext>
            </a:extLst>
          </p:cNvPr>
          <p:cNvSpPr>
            <a:spLocks noGrp="1"/>
          </p:cNvSpPr>
          <p:nvPr/>
        </p:nvSpPr>
        <p:spPr>
          <a:xfrm>
            <a:off x="8401050" y="5138829"/>
            <a:ext cx="1790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 dirty="0" err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근거</a:t>
            </a:r>
            <a:r>
              <a:rPr sz="975" b="0" dirty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75" b="0" dirty="0" err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없는</a:t>
            </a:r>
            <a:r>
              <a:rPr sz="975" b="0" dirty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75" b="0" dirty="0" err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지시는</a:t>
            </a:r>
            <a:r>
              <a:rPr sz="975" b="0" dirty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75" b="0" dirty="0" err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수리하거나</a:t>
            </a:r>
            <a:r>
              <a:rPr sz="975" b="0" dirty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75" b="0" dirty="0" err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차단</a:t>
            </a:r>
            <a:endParaRPr sz="975" b="0" dirty="0">
              <a:solidFill>
                <a:srgbClr val="51645C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E0C3D7E-A4CF-4870-B816-40778A0DA70D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571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rPr>
              <a:t>공식 RAG + 재난 유형 스키마 + 근거 없는 행동지시 차단</a:t>
            </a:r>
          </a:p>
        </p:txBody>
      </p:sp>
    </p:spTree>
    <p:extLst>
      <p:ext uri="{BB962C8B-B14F-4D97-AF65-F5344CB8AC3E}">
        <p14:creationId xmlns:p14="http://schemas.microsoft.com/office/powerpoint/2010/main" val="667406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>
            <a:extLst>
              <a:ext uri="{FF2B5EF4-FFF2-40B4-BE49-F238E27FC236}">
                <a16:creationId xmlns:a16="http://schemas.microsoft.com/office/drawing/2014/main" id="{6A4B0C65-B903-4C8B-A1A4-9E9A430AD4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7375BC4-C8D2-4E03-864B-7F40724FD3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8FD3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9AECFB8-1AC3-4885-846C-4DE10F7C5566}"/>
              </a:ext>
            </a:extLst>
          </p:cNvPr>
          <p:cNvSpPr>
            <a:spLocks noGrp="1"/>
          </p:cNvSpPr>
          <p:nvPr/>
        </p:nvSpPr>
        <p:spPr>
          <a:xfrm>
            <a:off x="9810750" y="495300"/>
            <a:ext cx="1809750" cy="1809750"/>
          </a:xfrm>
          <a:prstGeom prst="rect">
            <a:avLst/>
          </a:prstGeom>
          <a:solidFill>
            <a:srgbClr val="DDF4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4DE1EA6-DBBB-458E-AE3F-2168B8585379}"/>
              </a:ext>
            </a:extLst>
          </p:cNvPr>
          <p:cNvSpPr>
            <a:spLocks noGrp="1"/>
          </p:cNvSpPr>
          <p:nvPr/>
        </p:nvSpPr>
        <p:spPr>
          <a:xfrm>
            <a:off x="361950" y="5810250"/>
            <a:ext cx="1524000" cy="666750"/>
          </a:xfrm>
          <a:prstGeom prst="rect">
            <a:avLst/>
          </a:prstGeom>
          <a:solidFill>
            <a:srgbClr val="F1FF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2235A88-E108-4874-8CC1-64812AAA64CE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14300" cy="361950"/>
          </a:xfrm>
          <a:prstGeom prst="rect">
            <a:avLst/>
          </a:prstGeom>
          <a:solidFill>
            <a:srgbClr val="8FD3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B07198A-0DE8-4310-8F50-E8C9D4A9BFFC}"/>
              </a:ext>
            </a:extLst>
          </p:cNvPr>
          <p:cNvSpPr>
            <a:spLocks noGrp="1"/>
          </p:cNvSpPr>
          <p:nvPr/>
        </p:nvSpPr>
        <p:spPr>
          <a:xfrm>
            <a:off x="914400" y="457200"/>
            <a:ext cx="5334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쉬운말 변환 Agent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FC6BFD2-3CD1-46D9-AEC3-2D251936C157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6191250" cy="1714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75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defRPr>
            </a:pPr>
            <a:r>
              <a:rPr sz="375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짧게 줄이는 것이 아니라</a:t>
            </a:r>
          </a:p>
          <a:p>
            <a:pPr algn="l">
              <a:defRPr sz="375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defRPr>
            </a:pPr>
            <a:r>
              <a:rPr sz="375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이해 경로를</a:t>
            </a:r>
          </a:p>
          <a:p>
            <a:pPr algn="l">
              <a:defRPr sz="375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defRPr>
            </a:pPr>
            <a:r>
              <a:rPr sz="375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다시 설계합니다.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205BCEB-C3E5-4624-9797-479264C22CB1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61912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느린학습자·경계선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지능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연구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, W3C COGA, Easy Read </a:t>
            </a: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원칙을</a:t>
            </a:r>
            <a:endParaRPr sz="1650" b="0" dirty="0">
              <a:solidFill>
                <a:srgbClr val="12231D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defRPr sz="1650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문장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스키마와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어휘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규칙으로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바꿔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학습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카드에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맞는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문장만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남깁니다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8CFCC09-2E54-4874-9B05-DBF08824DAED}"/>
              </a:ext>
            </a:extLst>
          </p:cNvPr>
          <p:cNvSpPr>
            <a:spLocks noGrp="1"/>
          </p:cNvSpPr>
          <p:nvPr/>
        </p:nvSpPr>
        <p:spPr>
          <a:xfrm>
            <a:off x="742950" y="4114800"/>
            <a:ext cx="2571750" cy="495300"/>
          </a:xfrm>
          <a:prstGeom prst="rect">
            <a:avLst/>
          </a:prstGeom>
          <a:solidFill>
            <a:srgbClr val="DDFBEF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01444D4-7D5E-46E0-8E4F-0EE18744A7F9}"/>
              </a:ext>
            </a:extLst>
          </p:cNvPr>
          <p:cNvSpPr>
            <a:spLocks noGrp="1"/>
          </p:cNvSpPr>
          <p:nvPr/>
        </p:nvSpPr>
        <p:spPr>
          <a:xfrm>
            <a:off x="933450" y="4191000"/>
            <a:ext cx="2190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한 문장 한 행동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8ED6E8B-4501-4506-90CC-DD04E95F3C6C}"/>
              </a:ext>
            </a:extLst>
          </p:cNvPr>
          <p:cNvSpPr>
            <a:spLocks noGrp="1"/>
          </p:cNvSpPr>
          <p:nvPr/>
        </p:nvSpPr>
        <p:spPr>
          <a:xfrm>
            <a:off x="933450" y="4400550"/>
            <a:ext cx="2190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여러 지시를 한 문장에 섞지 않음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7F8A01B-D77B-45CB-BBA5-41C82CC55D94}"/>
              </a:ext>
            </a:extLst>
          </p:cNvPr>
          <p:cNvSpPr>
            <a:spLocks noGrp="1"/>
          </p:cNvSpPr>
          <p:nvPr/>
        </p:nvSpPr>
        <p:spPr>
          <a:xfrm>
            <a:off x="3600450" y="4114800"/>
            <a:ext cx="25717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A19B30E-8B03-4A9B-9259-0B958E84DA52}"/>
              </a:ext>
            </a:extLst>
          </p:cNvPr>
          <p:cNvSpPr>
            <a:spLocks noGrp="1"/>
          </p:cNvSpPr>
          <p:nvPr/>
        </p:nvSpPr>
        <p:spPr>
          <a:xfrm>
            <a:off x="3790950" y="4191000"/>
            <a:ext cx="2190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35자 안팎 카드 문장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110A572-F343-46FA-ACA6-139A99EE39FA}"/>
              </a:ext>
            </a:extLst>
          </p:cNvPr>
          <p:cNvSpPr>
            <a:spLocks noGrp="1"/>
          </p:cNvSpPr>
          <p:nvPr/>
        </p:nvSpPr>
        <p:spPr>
          <a:xfrm>
            <a:off x="3790950" y="4400550"/>
            <a:ext cx="2190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학습 화면에서 읽고 누를 수 있는 길이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9D58A9E-69FB-4D71-8B42-6EB467206D94}"/>
              </a:ext>
            </a:extLst>
          </p:cNvPr>
          <p:cNvSpPr>
            <a:spLocks noGrp="1"/>
          </p:cNvSpPr>
          <p:nvPr/>
        </p:nvSpPr>
        <p:spPr>
          <a:xfrm>
            <a:off x="742950" y="4705350"/>
            <a:ext cx="2571750" cy="495300"/>
          </a:xfrm>
          <a:prstGeom prst="rect">
            <a:avLst/>
          </a:prstGeom>
          <a:solidFill>
            <a:srgbClr val="DDFBEF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CFF13A2-14A6-4305-BA52-40E273BF3E54}"/>
              </a:ext>
            </a:extLst>
          </p:cNvPr>
          <p:cNvSpPr>
            <a:spLocks noGrp="1"/>
          </p:cNvSpPr>
          <p:nvPr/>
        </p:nvSpPr>
        <p:spPr>
          <a:xfrm>
            <a:off x="933450" y="4781550"/>
            <a:ext cx="2190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구체 동사 우선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63D4B09-D081-4A7F-94A4-6354D048F7DB}"/>
              </a:ext>
            </a:extLst>
          </p:cNvPr>
          <p:cNvSpPr>
            <a:spLocks noGrp="1"/>
          </p:cNvSpPr>
          <p:nvPr/>
        </p:nvSpPr>
        <p:spPr>
          <a:xfrm>
            <a:off x="933450" y="4991100"/>
            <a:ext cx="2190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대피한다보다 밖으로 나간다처럼 행동화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C8D3525-C1BA-4A77-8172-F22F9491A778}"/>
              </a:ext>
            </a:extLst>
          </p:cNvPr>
          <p:cNvSpPr>
            <a:spLocks noGrp="1"/>
          </p:cNvSpPr>
          <p:nvPr/>
        </p:nvSpPr>
        <p:spPr>
          <a:xfrm>
            <a:off x="3600450" y="4705350"/>
            <a:ext cx="25717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098D2FB-6136-4A46-8593-40B9A77CC60E}"/>
              </a:ext>
            </a:extLst>
          </p:cNvPr>
          <p:cNvSpPr>
            <a:spLocks noGrp="1"/>
          </p:cNvSpPr>
          <p:nvPr/>
        </p:nvSpPr>
        <p:spPr>
          <a:xfrm>
            <a:off x="3790950" y="4781550"/>
            <a:ext cx="2190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핵심 단어 보존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A0582CD-B03C-43CD-8425-8BF14F144614}"/>
              </a:ext>
            </a:extLst>
          </p:cNvPr>
          <p:cNvSpPr>
            <a:spLocks noGrp="1"/>
          </p:cNvSpPr>
          <p:nvPr/>
        </p:nvSpPr>
        <p:spPr>
          <a:xfrm>
            <a:off x="3790950" y="4991100"/>
            <a:ext cx="2190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비·불·연기·그늘 같은 위험 단어 유지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7D9755B-641F-4585-B799-DAC48266CD37}"/>
              </a:ext>
            </a:extLst>
          </p:cNvPr>
          <p:cNvSpPr>
            <a:spLocks noGrp="1"/>
          </p:cNvSpPr>
          <p:nvPr/>
        </p:nvSpPr>
        <p:spPr>
          <a:xfrm>
            <a:off x="742950" y="5295900"/>
            <a:ext cx="5524500" cy="495300"/>
          </a:xfrm>
          <a:prstGeom prst="rect">
            <a:avLst/>
          </a:prstGeom>
          <a:solidFill>
            <a:srgbClr val="DDFBEF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F590CE0-46AD-479F-B1AA-E17CE4BF250C}"/>
              </a:ext>
            </a:extLst>
          </p:cNvPr>
          <p:cNvSpPr>
            <a:spLocks noGrp="1"/>
          </p:cNvSpPr>
          <p:nvPr/>
        </p:nvSpPr>
        <p:spPr>
          <a:xfrm>
            <a:off x="933450" y="5372100"/>
            <a:ext cx="5143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학습자/진행자 분리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905BADE-F61B-43F7-A376-455175CCB2A1}"/>
              </a:ext>
            </a:extLst>
          </p:cNvPr>
          <p:cNvSpPr>
            <a:spLocks noGrp="1"/>
          </p:cNvSpPr>
          <p:nvPr/>
        </p:nvSpPr>
        <p:spPr>
          <a:xfrm>
            <a:off x="933450" y="5581650"/>
            <a:ext cx="5143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학생이 볼 말과 교사가 설명할 말을 나눔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5190CCB-3022-4071-A662-4D5F499A1EA7}"/>
              </a:ext>
            </a:extLst>
          </p:cNvPr>
          <p:cNvSpPr>
            <a:spLocks noGrp="1"/>
          </p:cNvSpPr>
          <p:nvPr/>
        </p:nvSpPr>
        <p:spPr>
          <a:xfrm>
            <a:off x="7000875" y="1295400"/>
            <a:ext cx="3619500" cy="1504950"/>
          </a:xfrm>
          <a:prstGeom prst="rect">
            <a:avLst/>
          </a:prstGeom>
          <a:solidFill>
            <a:srgbClr val="EEF4F0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5B248AA-9B38-481D-B127-DFA4C4C0C856}"/>
              </a:ext>
            </a:extLst>
          </p:cNvPr>
          <p:cNvSpPr>
            <a:spLocks noGrp="1"/>
          </p:cNvSpPr>
          <p:nvPr/>
        </p:nvSpPr>
        <p:spPr>
          <a:xfrm>
            <a:off x="7258050" y="1543050"/>
            <a:ext cx="3086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Before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B660592-081A-4D05-B576-4382BAD0E2A3}"/>
              </a:ext>
            </a:extLst>
          </p:cNvPr>
          <p:cNvSpPr>
            <a:spLocks noGrp="1"/>
          </p:cNvSpPr>
          <p:nvPr/>
        </p:nvSpPr>
        <p:spPr>
          <a:xfrm>
            <a:off x="7334250" y="1981200"/>
            <a:ext cx="2952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425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폭염 발생 시 야외활동을 자제하고</a:t>
            </a:r>
          </a:p>
          <a:p>
            <a:pPr algn="ctr">
              <a:defRPr sz="1425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충분한 수분을 섭취합니다.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E7A15E0-F26B-430E-B659-EF109F1179D0}"/>
              </a:ext>
            </a:extLst>
          </p:cNvPr>
          <p:cNvSpPr>
            <a:spLocks noGrp="1"/>
          </p:cNvSpPr>
          <p:nvPr/>
        </p:nvSpPr>
        <p:spPr>
          <a:xfrm>
            <a:off x="8591550" y="2952750"/>
            <a:ext cx="419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↓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EF66999-2483-45DA-856E-9FBA9F58C5B1}"/>
              </a:ext>
            </a:extLst>
          </p:cNvPr>
          <p:cNvSpPr>
            <a:spLocks noGrp="1"/>
          </p:cNvSpPr>
          <p:nvPr/>
        </p:nvSpPr>
        <p:spPr>
          <a:xfrm>
            <a:off x="7000875" y="3448050"/>
            <a:ext cx="3619500" cy="1733550"/>
          </a:xfrm>
          <a:prstGeom prst="rect">
            <a:avLst/>
          </a:prstGeom>
          <a:solidFill>
            <a:srgbClr val="FFF3C4"/>
          </a:solidFill>
          <a:ln w="9525">
            <a:solidFill>
              <a:srgbClr val="F5C8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85061C5-FF0F-428B-9341-0FE6349327AB}"/>
              </a:ext>
            </a:extLst>
          </p:cNvPr>
          <p:cNvSpPr>
            <a:spLocks noGrp="1"/>
          </p:cNvSpPr>
          <p:nvPr/>
        </p:nvSpPr>
        <p:spPr>
          <a:xfrm>
            <a:off x="7258050" y="3695700"/>
            <a:ext cx="3086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FF2D1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FF2D13"/>
                </a:solidFill>
                <a:latin typeface="Apple SD Gothic Neo"/>
                <a:ea typeface="Apple SD Gothic Neo"/>
                <a:cs typeface="Apple SD Gothic Neo"/>
              </a:rPr>
              <a:t>After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34BF8AD-E500-47C0-BF58-6AD476150502}"/>
              </a:ext>
            </a:extLst>
          </p:cNvPr>
          <p:cNvSpPr>
            <a:spLocks noGrp="1"/>
          </p:cNvSpPr>
          <p:nvPr/>
        </p:nvSpPr>
        <p:spPr>
          <a:xfrm>
            <a:off x="7334250" y="4133850"/>
            <a:ext cx="29527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너무 더우면 밖에 오래 있지 않아요.</a:t>
            </a:r>
          </a:p>
          <a:p>
            <a:pPr algn="ctr">
              <a:defRPr sz="16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물을 마시고 그늘에서 쉬어요.</a:t>
            </a:r>
          </a:p>
        </p:txBody>
      </p:sp>
    </p:spTree>
    <p:extLst>
      <p:ext uri="{BB962C8B-B14F-4D97-AF65-F5344CB8AC3E}">
        <p14:creationId xmlns:p14="http://schemas.microsoft.com/office/powerpoint/2010/main" val="6040363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직사각형 55">
            <a:extLst>
              <a:ext uri="{FF2B5EF4-FFF2-40B4-BE49-F238E27FC236}">
                <a16:creationId xmlns:a16="http://schemas.microsoft.com/office/drawing/2014/main" id="{B91B6324-8684-41E5-AB55-75D0D94A7E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E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B7E7E35-D8F2-4AC5-8335-EAB389F890C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FF6B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8B35F47-FBE4-42ED-9527-60773E7A7F58}"/>
              </a:ext>
            </a:extLst>
          </p:cNvPr>
          <p:cNvSpPr>
            <a:spLocks noGrp="1"/>
          </p:cNvSpPr>
          <p:nvPr/>
        </p:nvSpPr>
        <p:spPr>
          <a:xfrm>
            <a:off x="9810750" y="495300"/>
            <a:ext cx="1809750" cy="1809750"/>
          </a:xfrm>
          <a:prstGeom prst="rect">
            <a:avLst/>
          </a:prstGeom>
          <a:solidFill>
            <a:srgbClr val="FFF1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C9942D3-FF8C-4D56-AF5E-0CC013F8C32C}"/>
              </a:ext>
            </a:extLst>
          </p:cNvPr>
          <p:cNvSpPr>
            <a:spLocks noGrp="1"/>
          </p:cNvSpPr>
          <p:nvPr/>
        </p:nvSpPr>
        <p:spPr>
          <a:xfrm>
            <a:off x="361950" y="5810250"/>
            <a:ext cx="1524000" cy="666750"/>
          </a:xfrm>
          <a:prstGeom prst="rect">
            <a:avLst/>
          </a:prstGeom>
          <a:solidFill>
            <a:srgbClr val="FFF7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DC53D36-C830-4FD8-812E-636D7B06C182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14300" cy="361950"/>
          </a:xfrm>
          <a:prstGeom prst="rect">
            <a:avLst/>
          </a:prstGeom>
          <a:solidFill>
            <a:srgbClr val="FF6B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D5DB6BF-1E44-47F1-B037-A66BFFE93A56}"/>
              </a:ext>
            </a:extLst>
          </p:cNvPr>
          <p:cNvSpPr>
            <a:spLocks noGrp="1"/>
          </p:cNvSpPr>
          <p:nvPr/>
        </p:nvSpPr>
        <p:spPr>
          <a:xfrm>
            <a:off x="914400" y="457200"/>
            <a:ext cx="5334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품질검사 Agent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3D8BB2C-357A-4777-ABC0-4CF6062D550A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7048500" cy="1714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45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defRPr>
            </a:pPr>
            <a:r>
              <a:rPr sz="345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마지막 판단은</a:t>
            </a:r>
          </a:p>
          <a:p>
            <a:pPr algn="l">
              <a:defRPr sz="345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defRPr>
            </a:pPr>
            <a:r>
              <a:rPr sz="345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LLM-as-a-judge와</a:t>
            </a:r>
          </a:p>
          <a:p>
            <a:pPr algn="l">
              <a:defRPr sz="345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defRPr>
            </a:pPr>
            <a:r>
              <a:rPr sz="345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결정적 검사 계약이 함께 합니다.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10788CC-76BC-489D-9FD4-840B158C6513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6667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생성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결과를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바로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공개하지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않고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검사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Agent가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 issue </a:t>
            </a: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code를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만들고</a:t>
            </a:r>
            <a:endParaRPr sz="1650" b="0" dirty="0">
              <a:solidFill>
                <a:srgbClr val="12231D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defRPr sz="1650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수리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코디네이터가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담당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Agent로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되돌립니다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. </a:t>
            </a:r>
            <a:endParaRPr lang="en-US" sz="1650" dirty="0">
              <a:solidFill>
                <a:srgbClr val="12231D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defRPr sz="1650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통과한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결과만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 published </a:t>
            </a:r>
            <a:r>
              <a:rPr sz="1650" b="0" dirty="0" err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됩니다</a:t>
            </a:r>
            <a:r>
              <a:rPr sz="1650" b="0" dirty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1563BF4-2AFA-45A8-B741-E94C83D748C5}"/>
              </a:ext>
            </a:extLst>
          </p:cNvPr>
          <p:cNvSpPr>
            <a:spLocks noGrp="1"/>
          </p:cNvSpPr>
          <p:nvPr/>
        </p:nvSpPr>
        <p:spPr>
          <a:xfrm>
            <a:off x="723900" y="4305300"/>
            <a:ext cx="99060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71F0F34-E814-44C6-97B2-AD6F15DC25EC}"/>
              </a:ext>
            </a:extLst>
          </p:cNvPr>
          <p:cNvSpPr>
            <a:spLocks noGrp="1"/>
          </p:cNvSpPr>
          <p:nvPr/>
        </p:nvSpPr>
        <p:spPr>
          <a:xfrm>
            <a:off x="819150" y="4457700"/>
            <a:ext cx="800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generate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5B5492E-4A84-4017-986E-B04666F31B21}"/>
              </a:ext>
            </a:extLst>
          </p:cNvPr>
          <p:cNvSpPr>
            <a:spLocks noGrp="1"/>
          </p:cNvSpPr>
          <p:nvPr/>
        </p:nvSpPr>
        <p:spPr>
          <a:xfrm>
            <a:off x="819150" y="4724400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초안 생성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03DCD56-967A-4975-A9A4-437DA6618DA3}"/>
              </a:ext>
            </a:extLst>
          </p:cNvPr>
          <p:cNvSpPr>
            <a:spLocks noGrp="1"/>
          </p:cNvSpPr>
          <p:nvPr/>
        </p:nvSpPr>
        <p:spPr>
          <a:xfrm>
            <a:off x="1714500" y="4457700"/>
            <a:ext cx="419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A0048A2-1274-41BA-808F-CD1B0D46EE99}"/>
              </a:ext>
            </a:extLst>
          </p:cNvPr>
          <p:cNvSpPr>
            <a:spLocks noGrp="1"/>
          </p:cNvSpPr>
          <p:nvPr/>
        </p:nvSpPr>
        <p:spPr>
          <a:xfrm>
            <a:off x="1924050" y="4305300"/>
            <a:ext cx="99060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31D829E-DCBC-4438-ADED-25C328DA0BEA}"/>
              </a:ext>
            </a:extLst>
          </p:cNvPr>
          <p:cNvSpPr>
            <a:spLocks noGrp="1"/>
          </p:cNvSpPr>
          <p:nvPr/>
        </p:nvSpPr>
        <p:spPr>
          <a:xfrm>
            <a:off x="2019300" y="4457700"/>
            <a:ext cx="800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judge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F443E6B-2788-47B3-A1D5-25B10482CDA8}"/>
              </a:ext>
            </a:extLst>
          </p:cNvPr>
          <p:cNvSpPr>
            <a:spLocks noGrp="1"/>
          </p:cNvSpPr>
          <p:nvPr/>
        </p:nvSpPr>
        <p:spPr>
          <a:xfrm>
            <a:off x="2019300" y="4724400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LLM judge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29ABFD5-DDE7-444C-8611-43ED6C2AF9F5}"/>
              </a:ext>
            </a:extLst>
          </p:cNvPr>
          <p:cNvSpPr>
            <a:spLocks noGrp="1"/>
          </p:cNvSpPr>
          <p:nvPr/>
        </p:nvSpPr>
        <p:spPr>
          <a:xfrm>
            <a:off x="2914650" y="4457700"/>
            <a:ext cx="419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40AF966-8B7E-4A52-9FAB-CEE04D97131E}"/>
              </a:ext>
            </a:extLst>
          </p:cNvPr>
          <p:cNvSpPr>
            <a:spLocks noGrp="1"/>
          </p:cNvSpPr>
          <p:nvPr/>
        </p:nvSpPr>
        <p:spPr>
          <a:xfrm>
            <a:off x="3124200" y="4305300"/>
            <a:ext cx="99060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E589F47-8ECF-4094-970E-4474885B8353}"/>
              </a:ext>
            </a:extLst>
          </p:cNvPr>
          <p:cNvSpPr>
            <a:spLocks noGrp="1"/>
          </p:cNvSpPr>
          <p:nvPr/>
        </p:nvSpPr>
        <p:spPr>
          <a:xfrm>
            <a:off x="3219450" y="4457700"/>
            <a:ext cx="800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issue code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CE5E158-6803-4BAF-9287-BEC14E20A12D}"/>
              </a:ext>
            </a:extLst>
          </p:cNvPr>
          <p:cNvSpPr>
            <a:spLocks noGrp="1"/>
          </p:cNvSpPr>
          <p:nvPr/>
        </p:nvSpPr>
        <p:spPr>
          <a:xfrm>
            <a:off x="3219450" y="4724400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오류 코드화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7FF085D-501A-411D-A841-D9BEF4ACBB29}"/>
              </a:ext>
            </a:extLst>
          </p:cNvPr>
          <p:cNvSpPr>
            <a:spLocks noGrp="1"/>
          </p:cNvSpPr>
          <p:nvPr/>
        </p:nvSpPr>
        <p:spPr>
          <a:xfrm>
            <a:off x="4114800" y="4457700"/>
            <a:ext cx="419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438B226-9521-4EF2-993C-9551A88013F5}"/>
              </a:ext>
            </a:extLst>
          </p:cNvPr>
          <p:cNvSpPr>
            <a:spLocks noGrp="1"/>
          </p:cNvSpPr>
          <p:nvPr/>
        </p:nvSpPr>
        <p:spPr>
          <a:xfrm>
            <a:off x="4324350" y="4305300"/>
            <a:ext cx="99060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EDDAB82-1A1B-4BCB-8789-BAA3093FBC27}"/>
              </a:ext>
            </a:extLst>
          </p:cNvPr>
          <p:cNvSpPr>
            <a:spLocks noGrp="1"/>
          </p:cNvSpPr>
          <p:nvPr/>
        </p:nvSpPr>
        <p:spPr>
          <a:xfrm>
            <a:off x="4419600" y="4457700"/>
            <a:ext cx="800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repair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A41A7BF-82E8-41B2-AE85-DAB8208D45C1}"/>
              </a:ext>
            </a:extLst>
          </p:cNvPr>
          <p:cNvSpPr>
            <a:spLocks noGrp="1"/>
          </p:cNvSpPr>
          <p:nvPr/>
        </p:nvSpPr>
        <p:spPr>
          <a:xfrm>
            <a:off x="4419600" y="4724400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담당 Agent 수리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07B2683-FDAD-447A-AFC5-E84729A6FB85}"/>
              </a:ext>
            </a:extLst>
          </p:cNvPr>
          <p:cNvSpPr>
            <a:spLocks noGrp="1"/>
          </p:cNvSpPr>
          <p:nvPr/>
        </p:nvSpPr>
        <p:spPr>
          <a:xfrm>
            <a:off x="5314950" y="4457700"/>
            <a:ext cx="419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60F0245-7DDD-41B8-9110-6705BEC0A17E}"/>
              </a:ext>
            </a:extLst>
          </p:cNvPr>
          <p:cNvSpPr>
            <a:spLocks noGrp="1"/>
          </p:cNvSpPr>
          <p:nvPr/>
        </p:nvSpPr>
        <p:spPr>
          <a:xfrm>
            <a:off x="5524500" y="4305300"/>
            <a:ext cx="990600" cy="704850"/>
          </a:xfrm>
          <a:prstGeom prst="rect">
            <a:avLst/>
          </a:prstGeom>
          <a:solidFill>
            <a:srgbClr val="DDFBEF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63ADC5E-4093-4CA5-85BE-AD61BD0C276F}"/>
              </a:ext>
            </a:extLst>
          </p:cNvPr>
          <p:cNvSpPr>
            <a:spLocks noGrp="1"/>
          </p:cNvSpPr>
          <p:nvPr/>
        </p:nvSpPr>
        <p:spPr>
          <a:xfrm>
            <a:off x="5619750" y="4457700"/>
            <a:ext cx="800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78B5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78B5E"/>
                </a:solidFill>
                <a:latin typeface="Apple SD Gothic Neo"/>
                <a:ea typeface="Apple SD Gothic Neo"/>
                <a:cs typeface="Apple SD Gothic Neo"/>
              </a:rPr>
              <a:t>publish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B47F16E-B240-4741-8F78-ABEBEB5EB1FD}"/>
              </a:ext>
            </a:extLst>
          </p:cNvPr>
          <p:cNvSpPr>
            <a:spLocks noGrp="1"/>
          </p:cNvSpPr>
          <p:nvPr/>
        </p:nvSpPr>
        <p:spPr>
          <a:xfrm>
            <a:off x="5619750" y="4724400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통과 시 공개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F503D0E-42F8-41FA-8586-C7729D83E67C}"/>
              </a:ext>
            </a:extLst>
          </p:cNvPr>
          <p:cNvSpPr>
            <a:spLocks noGrp="1"/>
          </p:cNvSpPr>
          <p:nvPr/>
        </p:nvSpPr>
        <p:spPr>
          <a:xfrm>
            <a:off x="603624" y="5219700"/>
            <a:ext cx="5778126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2D1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dirty="0" err="1">
                <a:solidFill>
                  <a:srgbClr val="FF2D13"/>
                </a:solidFill>
                <a:latin typeface="Apple SD Gothic Neo"/>
                <a:ea typeface="Apple SD Gothic Neo"/>
                <a:cs typeface="Apple SD Gothic Neo"/>
              </a:rPr>
              <a:t>실패하면</a:t>
            </a:r>
            <a:r>
              <a:rPr sz="1500" b="1" dirty="0">
                <a:solidFill>
                  <a:srgbClr val="FF2D1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1" dirty="0" err="1">
                <a:solidFill>
                  <a:srgbClr val="FF2D13"/>
                </a:solidFill>
                <a:latin typeface="Apple SD Gothic Neo"/>
                <a:ea typeface="Apple SD Gothic Neo"/>
                <a:cs typeface="Apple SD Gothic Neo"/>
              </a:rPr>
              <a:t>끝이</a:t>
            </a:r>
            <a:r>
              <a:rPr sz="1500" b="1" dirty="0">
                <a:solidFill>
                  <a:srgbClr val="FF2D1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1" dirty="0" err="1">
                <a:solidFill>
                  <a:srgbClr val="FF2D13"/>
                </a:solidFill>
                <a:latin typeface="Apple SD Gothic Neo"/>
                <a:ea typeface="Apple SD Gothic Neo"/>
                <a:cs typeface="Apple SD Gothic Neo"/>
              </a:rPr>
              <a:t>아니라</a:t>
            </a:r>
            <a:r>
              <a:rPr sz="1500" b="1" dirty="0">
                <a:solidFill>
                  <a:srgbClr val="FF2D1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1" dirty="0" err="1">
                <a:solidFill>
                  <a:srgbClr val="FF2D13"/>
                </a:solidFill>
                <a:latin typeface="Apple SD Gothic Neo"/>
                <a:ea typeface="Apple SD Gothic Neo"/>
                <a:cs typeface="Apple SD Gothic Neo"/>
              </a:rPr>
              <a:t>needs_repair</a:t>
            </a:r>
            <a:r>
              <a:rPr sz="1500" b="1" dirty="0">
                <a:solidFill>
                  <a:srgbClr val="FF2D1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1" dirty="0" err="1">
                <a:solidFill>
                  <a:srgbClr val="FF2D13"/>
                </a:solidFill>
                <a:latin typeface="Apple SD Gothic Neo"/>
                <a:ea typeface="Apple SD Gothic Neo"/>
                <a:cs typeface="Apple SD Gothic Neo"/>
              </a:rPr>
              <a:t>상태로</a:t>
            </a:r>
            <a:r>
              <a:rPr sz="1500" b="1" dirty="0">
                <a:solidFill>
                  <a:srgbClr val="FF2D1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1" dirty="0" err="1">
                <a:solidFill>
                  <a:srgbClr val="FF2D13"/>
                </a:solidFill>
                <a:latin typeface="Apple SD Gothic Neo"/>
                <a:ea typeface="Apple SD Gothic Neo"/>
                <a:cs typeface="Apple SD Gothic Neo"/>
              </a:rPr>
              <a:t>자동</a:t>
            </a:r>
            <a:r>
              <a:rPr sz="1500" b="1" dirty="0">
                <a:solidFill>
                  <a:srgbClr val="FF2D1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1" dirty="0" err="1">
                <a:solidFill>
                  <a:srgbClr val="FF2D13"/>
                </a:solidFill>
                <a:latin typeface="Apple SD Gothic Neo"/>
                <a:ea typeface="Apple SD Gothic Neo"/>
                <a:cs typeface="Apple SD Gothic Neo"/>
              </a:rPr>
              <a:t>수리</a:t>
            </a:r>
            <a:r>
              <a:rPr sz="1500" b="1" dirty="0">
                <a:solidFill>
                  <a:srgbClr val="FF2D1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1" dirty="0" err="1">
                <a:solidFill>
                  <a:srgbClr val="FF2D13"/>
                </a:solidFill>
                <a:latin typeface="Apple SD Gothic Neo"/>
                <a:ea typeface="Apple SD Gothic Neo"/>
                <a:cs typeface="Apple SD Gothic Neo"/>
              </a:rPr>
              <a:t>루프에</a:t>
            </a:r>
            <a:r>
              <a:rPr sz="1500" b="1" dirty="0">
                <a:solidFill>
                  <a:srgbClr val="FF2D1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1" dirty="0" err="1">
                <a:solidFill>
                  <a:srgbClr val="FF2D13"/>
                </a:solidFill>
                <a:latin typeface="Apple SD Gothic Neo"/>
                <a:ea typeface="Apple SD Gothic Neo"/>
                <a:cs typeface="Apple SD Gothic Neo"/>
              </a:rPr>
              <a:t>들어갑니다</a:t>
            </a:r>
            <a:r>
              <a:rPr sz="1500" b="1" dirty="0">
                <a:solidFill>
                  <a:srgbClr val="FF2D13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F5BB092-3BA3-4163-8AFF-DF24F6D927FE}"/>
              </a:ext>
            </a:extLst>
          </p:cNvPr>
          <p:cNvSpPr>
            <a:spLocks noGrp="1"/>
          </p:cNvSpPr>
          <p:nvPr/>
        </p:nvSpPr>
        <p:spPr>
          <a:xfrm>
            <a:off x="7334250" y="1200150"/>
            <a:ext cx="3333750" cy="4476750"/>
          </a:xfrm>
          <a:prstGeom prst="rect">
            <a:avLst/>
          </a:prstGeom>
          <a:solidFill>
            <a:srgbClr val="FFFFFF"/>
          </a:solidFill>
          <a:ln w="9525">
            <a:solidFill>
              <a:srgbClr val="E6D0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9175AD5-6DD6-4209-B843-1A4E9B21FEFE}"/>
              </a:ext>
            </a:extLst>
          </p:cNvPr>
          <p:cNvSpPr>
            <a:spLocks noGrp="1"/>
          </p:cNvSpPr>
          <p:nvPr/>
        </p:nvSpPr>
        <p:spPr>
          <a:xfrm>
            <a:off x="7658100" y="1466850"/>
            <a:ext cx="2686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0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통과해야 하는 검사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7702C59-E629-4FB8-8DB7-C85ACDA6CAF5}"/>
              </a:ext>
            </a:extLst>
          </p:cNvPr>
          <p:cNvSpPr>
            <a:spLocks noGrp="1"/>
          </p:cNvSpPr>
          <p:nvPr/>
        </p:nvSpPr>
        <p:spPr>
          <a:xfrm>
            <a:off x="7658100" y="2038350"/>
            <a:ext cx="285750" cy="285750"/>
          </a:xfrm>
          <a:prstGeom prst="rect">
            <a:avLst/>
          </a:prstGeom>
          <a:solidFill>
            <a:srgbClr val="EAF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A3C50B7-89CE-42C9-9CBD-ADA0AE8BC80F}"/>
              </a:ext>
            </a:extLst>
          </p:cNvPr>
          <p:cNvSpPr>
            <a:spLocks noGrp="1"/>
          </p:cNvSpPr>
          <p:nvPr/>
        </p:nvSpPr>
        <p:spPr>
          <a:xfrm>
            <a:off x="7658100" y="2085975"/>
            <a:ext cx="28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57BA4FA-06F9-4643-A447-87C307BE1121}"/>
              </a:ext>
            </a:extLst>
          </p:cNvPr>
          <p:cNvSpPr>
            <a:spLocks noGrp="1"/>
          </p:cNvSpPr>
          <p:nvPr/>
        </p:nvSpPr>
        <p:spPr>
          <a:xfrm>
            <a:off x="8115300" y="201930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source coverage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37B0C02-DA7B-432F-B10A-F34148F8295C}"/>
              </a:ext>
            </a:extLst>
          </p:cNvPr>
          <p:cNvSpPr>
            <a:spLocks noGrp="1"/>
          </p:cNvSpPr>
          <p:nvPr/>
        </p:nvSpPr>
        <p:spPr>
          <a:xfrm>
            <a:off x="8115300" y="2238375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영상 근거가 장면마다 남아 있는가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8B38E41-549A-4C8C-A283-289BE66E2F50}"/>
              </a:ext>
            </a:extLst>
          </p:cNvPr>
          <p:cNvSpPr>
            <a:spLocks noGrp="1"/>
          </p:cNvSpPr>
          <p:nvPr/>
        </p:nvSpPr>
        <p:spPr>
          <a:xfrm>
            <a:off x="7658100" y="2552700"/>
            <a:ext cx="285750" cy="285750"/>
          </a:xfrm>
          <a:prstGeom prst="rect">
            <a:avLst/>
          </a:prstGeom>
          <a:solidFill>
            <a:srgbClr val="DDFB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10EB85D-3E1D-480E-B9D2-6D18CCE53020}"/>
              </a:ext>
            </a:extLst>
          </p:cNvPr>
          <p:cNvSpPr>
            <a:spLocks noGrp="1"/>
          </p:cNvSpPr>
          <p:nvPr/>
        </p:nvSpPr>
        <p:spPr>
          <a:xfrm>
            <a:off x="7658100" y="2600325"/>
            <a:ext cx="28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01BAD55-6627-45D8-AE7F-1625A5AA207E}"/>
              </a:ext>
            </a:extLst>
          </p:cNvPr>
          <p:cNvSpPr>
            <a:spLocks noGrp="1"/>
          </p:cNvSpPr>
          <p:nvPr/>
        </p:nvSpPr>
        <p:spPr>
          <a:xfrm>
            <a:off x="8115300" y="253365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grounding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BD061A6-B531-483B-829A-4CBBBF7C9096}"/>
              </a:ext>
            </a:extLst>
          </p:cNvPr>
          <p:cNvSpPr>
            <a:spLocks noGrp="1"/>
          </p:cNvSpPr>
          <p:nvPr/>
        </p:nvSpPr>
        <p:spPr>
          <a:xfrm>
            <a:off x="8115300" y="2752725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공식 규칙과 행동이 매칭되는가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01083FD-4039-448D-8A65-4C3552F2AC92}"/>
              </a:ext>
            </a:extLst>
          </p:cNvPr>
          <p:cNvSpPr>
            <a:spLocks noGrp="1"/>
          </p:cNvSpPr>
          <p:nvPr/>
        </p:nvSpPr>
        <p:spPr>
          <a:xfrm>
            <a:off x="7658100" y="3067050"/>
            <a:ext cx="285750" cy="285750"/>
          </a:xfrm>
          <a:prstGeom prst="rect">
            <a:avLst/>
          </a:prstGeom>
          <a:solidFill>
            <a:srgbClr val="EAF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F420169-7E78-45AD-B0CB-6767FAD8D7ED}"/>
              </a:ext>
            </a:extLst>
          </p:cNvPr>
          <p:cNvSpPr>
            <a:spLocks noGrp="1"/>
          </p:cNvSpPr>
          <p:nvPr/>
        </p:nvSpPr>
        <p:spPr>
          <a:xfrm>
            <a:off x="7658100" y="3114675"/>
            <a:ext cx="28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946BC47-0755-4F31-AFD2-1E24EC1A6D7D}"/>
              </a:ext>
            </a:extLst>
          </p:cNvPr>
          <p:cNvSpPr>
            <a:spLocks noGrp="1"/>
          </p:cNvSpPr>
          <p:nvPr/>
        </p:nvSpPr>
        <p:spPr>
          <a:xfrm>
            <a:off x="8115300" y="304800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easy language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BD9B091-019D-474A-BA12-4FBA85B206B6}"/>
              </a:ext>
            </a:extLst>
          </p:cNvPr>
          <p:cNvSpPr>
            <a:spLocks noGrp="1"/>
          </p:cNvSpPr>
          <p:nvPr/>
        </p:nvSpPr>
        <p:spPr>
          <a:xfrm>
            <a:off x="8115300" y="3267075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학습자 문장이 짧고 구체적인가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8FAFF28-982E-40A2-970C-0BD875C30FD0}"/>
              </a:ext>
            </a:extLst>
          </p:cNvPr>
          <p:cNvSpPr>
            <a:spLocks noGrp="1"/>
          </p:cNvSpPr>
          <p:nvPr/>
        </p:nvSpPr>
        <p:spPr>
          <a:xfrm>
            <a:off x="7658100" y="3581400"/>
            <a:ext cx="285750" cy="285750"/>
          </a:xfrm>
          <a:prstGeom prst="rect">
            <a:avLst/>
          </a:prstGeom>
          <a:solidFill>
            <a:srgbClr val="DDFB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FD3F2646-22CF-4E31-B2F4-973D76EE0793}"/>
              </a:ext>
            </a:extLst>
          </p:cNvPr>
          <p:cNvSpPr>
            <a:spLocks noGrp="1"/>
          </p:cNvSpPr>
          <p:nvPr/>
        </p:nvSpPr>
        <p:spPr>
          <a:xfrm>
            <a:off x="7658100" y="3629025"/>
            <a:ext cx="28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51A5DED-1D35-4F60-8058-4C2049045795}"/>
              </a:ext>
            </a:extLst>
          </p:cNvPr>
          <p:cNvSpPr>
            <a:spLocks noGrp="1"/>
          </p:cNvSpPr>
          <p:nvPr/>
        </p:nvSpPr>
        <p:spPr>
          <a:xfrm>
            <a:off x="8115300" y="356235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one answer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A6EFD26-B536-433C-8FF5-F7FB32E1FC9D}"/>
              </a:ext>
            </a:extLst>
          </p:cNvPr>
          <p:cNvSpPr>
            <a:spLocks noGrp="1"/>
          </p:cNvSpPr>
          <p:nvPr/>
        </p:nvSpPr>
        <p:spPr>
          <a:xfrm>
            <a:off x="8115300" y="3781425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확인 질문의 정답이 정확히 1개인가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381C7862-82CC-4D31-819A-F242E6C790AE}"/>
              </a:ext>
            </a:extLst>
          </p:cNvPr>
          <p:cNvSpPr>
            <a:spLocks noGrp="1"/>
          </p:cNvSpPr>
          <p:nvPr/>
        </p:nvSpPr>
        <p:spPr>
          <a:xfrm>
            <a:off x="7658100" y="4095750"/>
            <a:ext cx="285750" cy="285750"/>
          </a:xfrm>
          <a:prstGeom prst="rect">
            <a:avLst/>
          </a:prstGeom>
          <a:solidFill>
            <a:srgbClr val="EAF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FD274C13-F727-4A7F-B981-E04CA936B4DA}"/>
              </a:ext>
            </a:extLst>
          </p:cNvPr>
          <p:cNvSpPr>
            <a:spLocks noGrp="1"/>
          </p:cNvSpPr>
          <p:nvPr/>
        </p:nvSpPr>
        <p:spPr>
          <a:xfrm>
            <a:off x="7658100" y="4143375"/>
            <a:ext cx="28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8E0C357E-9D2E-47E2-A5EA-803BC6CAE22F}"/>
              </a:ext>
            </a:extLst>
          </p:cNvPr>
          <p:cNvSpPr>
            <a:spLocks noGrp="1"/>
          </p:cNvSpPr>
          <p:nvPr/>
        </p:nvSpPr>
        <p:spPr>
          <a:xfrm>
            <a:off x="8115300" y="407670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ui playback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F4B0B780-30C7-4A93-B0C1-30A39013452D}"/>
              </a:ext>
            </a:extLst>
          </p:cNvPr>
          <p:cNvSpPr>
            <a:spLocks noGrp="1"/>
          </p:cNvSpPr>
          <p:nvPr/>
        </p:nvSpPr>
        <p:spPr>
          <a:xfrm>
            <a:off x="8115300" y="4295775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장면 시간과 영상 재생이 맞는가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EA76CE5F-2E06-4D0B-BC2A-590B4DE6F750}"/>
              </a:ext>
            </a:extLst>
          </p:cNvPr>
          <p:cNvSpPr>
            <a:spLocks noGrp="1"/>
          </p:cNvSpPr>
          <p:nvPr/>
        </p:nvSpPr>
        <p:spPr>
          <a:xfrm>
            <a:off x="7658100" y="4610100"/>
            <a:ext cx="285750" cy="285750"/>
          </a:xfrm>
          <a:prstGeom prst="rect">
            <a:avLst/>
          </a:prstGeom>
          <a:solidFill>
            <a:srgbClr val="DDFB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4E20D20-D4F7-4F73-9582-5F3CB77CFB59}"/>
              </a:ext>
            </a:extLst>
          </p:cNvPr>
          <p:cNvSpPr>
            <a:spLocks noGrp="1"/>
          </p:cNvSpPr>
          <p:nvPr/>
        </p:nvSpPr>
        <p:spPr>
          <a:xfrm>
            <a:off x="7658100" y="4657725"/>
            <a:ext cx="28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6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C9516C83-D804-4FDA-B3F6-EF915950C550}"/>
              </a:ext>
            </a:extLst>
          </p:cNvPr>
          <p:cNvSpPr>
            <a:spLocks noGrp="1"/>
          </p:cNvSpPr>
          <p:nvPr/>
        </p:nvSpPr>
        <p:spPr>
          <a:xfrm>
            <a:off x="8115300" y="459105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core keyword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B7178B2-79D8-4C9D-BDD6-B87A476123DA}"/>
              </a:ext>
            </a:extLst>
          </p:cNvPr>
          <p:cNvSpPr>
            <a:spLocks noGrp="1"/>
          </p:cNvSpPr>
          <p:nvPr/>
        </p:nvSpPr>
        <p:spPr>
          <a:xfrm>
            <a:off x="8115300" y="4810125"/>
            <a:ext cx="2228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 dirty="0" err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비·연기·그늘</a:t>
            </a:r>
            <a:r>
              <a:rPr sz="938" b="0" dirty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38" b="0" dirty="0" err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같은</a:t>
            </a:r>
            <a:r>
              <a:rPr sz="938" b="0" dirty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38" b="0" dirty="0" err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핵심어가</a:t>
            </a:r>
            <a:r>
              <a:rPr sz="938" b="0" dirty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38" b="0" dirty="0" err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사라지지</a:t>
            </a:r>
            <a:r>
              <a:rPr sz="938" b="0" dirty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38" b="0" dirty="0" err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않았는가</a:t>
            </a:r>
            <a:endParaRPr sz="938" b="0" dirty="0">
              <a:solidFill>
                <a:srgbClr val="51645C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59039228-C548-4D42-AEF3-AE69DAE60B71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571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rPr>
              <a:t>LLM-as-a-judge + deterministic validator + issue routing + published-only 공개</a:t>
            </a:r>
          </a:p>
        </p:txBody>
      </p:sp>
    </p:spTree>
    <p:extLst>
      <p:ext uri="{BB962C8B-B14F-4D97-AF65-F5344CB8AC3E}">
        <p14:creationId xmlns:p14="http://schemas.microsoft.com/office/powerpoint/2010/main" val="5843297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EE1A9BE6-96E2-464D-977E-3B1A211452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E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7C9C7DA-0118-4468-AC0C-17FFB00022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7BE0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D5B8000-E8B0-4934-A037-97A03B471D31}"/>
              </a:ext>
            </a:extLst>
          </p:cNvPr>
          <p:cNvSpPr>
            <a:spLocks noGrp="1"/>
          </p:cNvSpPr>
          <p:nvPr/>
        </p:nvSpPr>
        <p:spPr>
          <a:xfrm>
            <a:off x="9810750" y="495300"/>
            <a:ext cx="1809750" cy="1809750"/>
          </a:xfrm>
          <a:prstGeom prst="rect">
            <a:avLst/>
          </a:prstGeom>
          <a:solidFill>
            <a:srgbClr val="E6FF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768796E-FB90-41B1-9B99-FD692CFB9107}"/>
              </a:ext>
            </a:extLst>
          </p:cNvPr>
          <p:cNvSpPr>
            <a:spLocks noGrp="1"/>
          </p:cNvSpPr>
          <p:nvPr/>
        </p:nvSpPr>
        <p:spPr>
          <a:xfrm>
            <a:off x="361950" y="5810250"/>
            <a:ext cx="1524000" cy="666750"/>
          </a:xfrm>
          <a:prstGeom prst="rect">
            <a:avLst/>
          </a:prstGeom>
          <a:solidFill>
            <a:srgbClr val="EAF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2843FBA-BBEC-49AA-B85A-39C98B5D4108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14300" cy="361950"/>
          </a:xfrm>
          <a:prstGeom prst="rect">
            <a:avLst/>
          </a:prstGeom>
          <a:solidFill>
            <a:srgbClr val="7BE0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D431B40-6007-4478-8C83-DFBACC9E5B48}"/>
              </a:ext>
            </a:extLst>
          </p:cNvPr>
          <p:cNvSpPr>
            <a:spLocks noGrp="1"/>
          </p:cNvSpPr>
          <p:nvPr/>
        </p:nvSpPr>
        <p:spPr>
          <a:xfrm>
            <a:off x="914400" y="457200"/>
            <a:ext cx="5334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일반 LLM과 다른 점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0046ADF-696A-437C-9E3F-76E1E8EF0841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838200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defRPr>
            </a:pPr>
            <a:r>
              <a:rPr sz="360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그럴듯한 설명보다</a:t>
            </a:r>
          </a:p>
          <a:p>
            <a:pPr algn="l">
              <a:defRPr sz="360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defRPr>
            </a:pPr>
            <a:r>
              <a:rPr sz="360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검증 가능한 출력 계약이</a:t>
            </a:r>
          </a:p>
          <a:p>
            <a:pPr algn="l">
              <a:defRPr sz="360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defRPr>
            </a:pPr>
            <a:r>
              <a:rPr sz="360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먼저입니다.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032EECA-B0FB-4420-9D69-DF552A33C1B5}"/>
              </a:ext>
            </a:extLst>
          </p:cNvPr>
          <p:cNvSpPr>
            <a:spLocks noGrp="1"/>
          </p:cNvSpPr>
          <p:nvPr/>
        </p:nvSpPr>
        <p:spPr>
          <a:xfrm>
            <a:off x="781050" y="3238500"/>
            <a:ext cx="47625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15A8391-95CC-44BD-A805-2A34E9C0E2A2}"/>
              </a:ext>
            </a:extLst>
          </p:cNvPr>
          <p:cNvSpPr>
            <a:spLocks noGrp="1"/>
          </p:cNvSpPr>
          <p:nvPr/>
        </p:nvSpPr>
        <p:spPr>
          <a:xfrm>
            <a:off x="990600" y="3467100"/>
            <a:ext cx="4343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장면 시간이 겹치면 안 됩니다.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6DE311D-3B93-4C61-BF1D-E0E9C93E5B17}"/>
              </a:ext>
            </a:extLst>
          </p:cNvPr>
          <p:cNvSpPr>
            <a:spLocks noGrp="1"/>
          </p:cNvSpPr>
          <p:nvPr/>
        </p:nvSpPr>
        <p:spPr>
          <a:xfrm>
            <a:off x="5943600" y="3238500"/>
            <a:ext cx="47625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6E7D971-4FA7-4B36-A097-6F7BD60A5B19}"/>
              </a:ext>
            </a:extLst>
          </p:cNvPr>
          <p:cNvSpPr>
            <a:spLocks noGrp="1"/>
          </p:cNvSpPr>
          <p:nvPr/>
        </p:nvSpPr>
        <p:spPr>
          <a:xfrm>
            <a:off x="6153150" y="3467100"/>
            <a:ext cx="4343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한 장면은 너무 길면 안 됩니다.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71B9D72-AF0C-44BB-BC2B-05D7D3E5A74E}"/>
              </a:ext>
            </a:extLst>
          </p:cNvPr>
          <p:cNvSpPr>
            <a:spLocks noGrp="1"/>
          </p:cNvSpPr>
          <p:nvPr/>
        </p:nvSpPr>
        <p:spPr>
          <a:xfrm>
            <a:off x="781050" y="4019550"/>
            <a:ext cx="47625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44D6FE1-0396-4B38-A180-9545C131DCDD}"/>
              </a:ext>
            </a:extLst>
          </p:cNvPr>
          <p:cNvSpPr>
            <a:spLocks noGrp="1"/>
          </p:cNvSpPr>
          <p:nvPr/>
        </p:nvSpPr>
        <p:spPr>
          <a:xfrm>
            <a:off x="990600" y="4248150"/>
            <a:ext cx="4343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행동 카드는 1개에서 3개만 보여줍니다.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8E74A37-8B22-4529-903D-905B3F0210EC}"/>
              </a:ext>
            </a:extLst>
          </p:cNvPr>
          <p:cNvSpPr>
            <a:spLocks noGrp="1"/>
          </p:cNvSpPr>
          <p:nvPr/>
        </p:nvSpPr>
        <p:spPr>
          <a:xfrm>
            <a:off x="5943600" y="4019550"/>
            <a:ext cx="47625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B4981FC-E45F-4E4F-A5AD-56D96BD47DD6}"/>
              </a:ext>
            </a:extLst>
          </p:cNvPr>
          <p:cNvSpPr>
            <a:spLocks noGrp="1"/>
          </p:cNvSpPr>
          <p:nvPr/>
        </p:nvSpPr>
        <p:spPr>
          <a:xfrm>
            <a:off x="6153150" y="4248150"/>
            <a:ext cx="4343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정답은 반드시 하나만 있어야 합니다.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B79347E-F011-4E47-96F6-A1D1554ABA22}"/>
              </a:ext>
            </a:extLst>
          </p:cNvPr>
          <p:cNvSpPr>
            <a:spLocks noGrp="1"/>
          </p:cNvSpPr>
          <p:nvPr/>
        </p:nvSpPr>
        <p:spPr>
          <a:xfrm>
            <a:off x="781050" y="4800600"/>
            <a:ext cx="47625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1590B27-E7A2-4E6C-9076-4103A37D0360}"/>
              </a:ext>
            </a:extLst>
          </p:cNvPr>
          <p:cNvSpPr>
            <a:spLocks noGrp="1"/>
          </p:cNvSpPr>
          <p:nvPr/>
        </p:nvSpPr>
        <p:spPr>
          <a:xfrm>
            <a:off x="990600" y="5029200"/>
            <a:ext cx="4343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어려운 단어와 어색한 표현은 차단합니다.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3613490-CFC3-4327-8E89-C9C1C2F4DB9A}"/>
              </a:ext>
            </a:extLst>
          </p:cNvPr>
          <p:cNvSpPr>
            <a:spLocks noGrp="1"/>
          </p:cNvSpPr>
          <p:nvPr/>
        </p:nvSpPr>
        <p:spPr>
          <a:xfrm>
            <a:off x="5943600" y="4800600"/>
            <a:ext cx="4762500" cy="609600"/>
          </a:xfrm>
          <a:prstGeom prst="rect">
            <a:avLst/>
          </a:prstGeom>
          <a:solidFill>
            <a:srgbClr val="FFE5E5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1490836-09C2-48D9-B374-91F33D447707}"/>
              </a:ext>
            </a:extLst>
          </p:cNvPr>
          <p:cNvSpPr>
            <a:spLocks noGrp="1"/>
          </p:cNvSpPr>
          <p:nvPr/>
        </p:nvSpPr>
        <p:spPr>
          <a:xfrm>
            <a:off x="6153150" y="5029200"/>
            <a:ext cx="4343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공식 근거 없는 위험한 행동지시는 막습니다.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C0E475F-E40F-49B4-933D-3004FAB86036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571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rPr>
              <a:t>AI가 자유롭게 말하는 것이 아니라, 안전한 형식만 통과합니다.</a:t>
            </a:r>
          </a:p>
        </p:txBody>
      </p:sp>
    </p:spTree>
    <p:extLst>
      <p:ext uri="{BB962C8B-B14F-4D97-AF65-F5344CB8AC3E}">
        <p14:creationId xmlns:p14="http://schemas.microsoft.com/office/powerpoint/2010/main" val="10061750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592A8529-D297-474B-B062-0275F719AA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2421C10-F24E-4955-AFFC-87C13E868C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8FD3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3A59E39-26E4-40E1-BA2C-B9B42E86468C}"/>
              </a:ext>
            </a:extLst>
          </p:cNvPr>
          <p:cNvSpPr>
            <a:spLocks noGrp="1"/>
          </p:cNvSpPr>
          <p:nvPr/>
        </p:nvSpPr>
        <p:spPr>
          <a:xfrm>
            <a:off x="9810750" y="495300"/>
            <a:ext cx="1809750" cy="1809750"/>
          </a:xfrm>
          <a:prstGeom prst="rect">
            <a:avLst/>
          </a:prstGeom>
          <a:solidFill>
            <a:srgbClr val="DDF4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AF3ABF5-F354-4B03-BDEF-51AC5E14C286}"/>
              </a:ext>
            </a:extLst>
          </p:cNvPr>
          <p:cNvSpPr>
            <a:spLocks noGrp="1"/>
          </p:cNvSpPr>
          <p:nvPr/>
        </p:nvSpPr>
        <p:spPr>
          <a:xfrm>
            <a:off x="361950" y="5810250"/>
            <a:ext cx="1524000" cy="666750"/>
          </a:xfrm>
          <a:prstGeom prst="rect">
            <a:avLst/>
          </a:prstGeom>
          <a:solidFill>
            <a:srgbClr val="F1FF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F90A100-5E1A-4BEC-BF83-57A31BADBD4D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14300" cy="361950"/>
          </a:xfrm>
          <a:prstGeom prst="rect">
            <a:avLst/>
          </a:prstGeom>
          <a:solidFill>
            <a:srgbClr val="8FD3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E90ED7F-CA7C-4FAD-983B-1214A56C42A3}"/>
              </a:ext>
            </a:extLst>
          </p:cNvPr>
          <p:cNvSpPr>
            <a:spLocks noGrp="1"/>
          </p:cNvSpPr>
          <p:nvPr/>
        </p:nvSpPr>
        <p:spPr>
          <a:xfrm>
            <a:off x="914400" y="457200"/>
            <a:ext cx="5334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라이프스타일 혁신을 위한 AI Agent 기반 SW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B8A1B8E-6D9C-4879-B9DD-2B873871143C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809625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defRPr>
            </a:pPr>
            <a:r>
              <a:rPr sz="360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생활 맥락은</a:t>
            </a:r>
          </a:p>
          <a:p>
            <a:pPr algn="l">
              <a:defRPr sz="360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defRPr>
            </a:pPr>
            <a:r>
              <a:rPr sz="360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“재난 상황을 일상에서</a:t>
            </a:r>
          </a:p>
          <a:p>
            <a:pPr algn="l">
              <a:defRPr sz="360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defRPr>
            </a:pPr>
            <a:r>
              <a:rPr sz="360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어떻게 이해하고 연습하는가”입니다.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A72FB1B-3621-456C-AC91-EA66705AE4DE}"/>
              </a:ext>
            </a:extLst>
          </p:cNvPr>
          <p:cNvSpPr>
            <a:spLocks noGrp="1"/>
          </p:cNvSpPr>
          <p:nvPr/>
        </p:nvSpPr>
        <p:spPr>
          <a:xfrm>
            <a:off x="876300" y="3543300"/>
            <a:ext cx="2133600" cy="1428750"/>
          </a:xfrm>
          <a:prstGeom prst="rect">
            <a:avLst/>
          </a:prstGeom>
          <a:solidFill>
            <a:srgbClr val="DDFBEF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A109788-D747-4AB0-ACCC-67FC6B0FC4ED}"/>
              </a:ext>
            </a:extLst>
          </p:cNvPr>
          <p:cNvSpPr>
            <a:spLocks noGrp="1"/>
          </p:cNvSpPr>
          <p:nvPr/>
        </p:nvSpPr>
        <p:spPr>
          <a:xfrm>
            <a:off x="1085850" y="3771900"/>
            <a:ext cx="1714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학교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FA06064-3B06-481C-AB65-C060D545C0D0}"/>
              </a:ext>
            </a:extLst>
          </p:cNvPr>
          <p:cNvSpPr>
            <a:spLocks noGrp="1"/>
          </p:cNvSpPr>
          <p:nvPr/>
        </p:nvSpPr>
        <p:spPr>
          <a:xfrm>
            <a:off x="1085850" y="4305300"/>
            <a:ext cx="1714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선생님 말 듣기</a:t>
            </a:r>
          </a:p>
          <a:p>
            <a:pPr algn="l">
              <a:defRPr sz="142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대피 장소 기억하기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23806D2-CDF2-4EBA-AB6C-3C7D3D65217F}"/>
              </a:ext>
            </a:extLst>
          </p:cNvPr>
          <p:cNvSpPr>
            <a:spLocks noGrp="1"/>
          </p:cNvSpPr>
          <p:nvPr/>
        </p:nvSpPr>
        <p:spPr>
          <a:xfrm>
            <a:off x="3467100" y="3543300"/>
            <a:ext cx="2133600" cy="1428750"/>
          </a:xfrm>
          <a:prstGeom prst="rect">
            <a:avLst/>
          </a:prstGeom>
          <a:solidFill>
            <a:srgbClr val="FFF3C4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396B8D2-107A-4F47-8516-CE5CD00CF0CC}"/>
              </a:ext>
            </a:extLst>
          </p:cNvPr>
          <p:cNvSpPr>
            <a:spLocks noGrp="1"/>
          </p:cNvSpPr>
          <p:nvPr/>
        </p:nvSpPr>
        <p:spPr>
          <a:xfrm>
            <a:off x="3676650" y="3771900"/>
            <a:ext cx="1714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집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087476-6F18-4E02-A7E0-8F0D24473A21}"/>
              </a:ext>
            </a:extLst>
          </p:cNvPr>
          <p:cNvSpPr>
            <a:spLocks noGrp="1"/>
          </p:cNvSpPr>
          <p:nvPr/>
        </p:nvSpPr>
        <p:spPr>
          <a:xfrm>
            <a:off x="3676650" y="4305300"/>
            <a:ext cx="1714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가족에게 알리기</a:t>
            </a:r>
          </a:p>
          <a:p>
            <a:pPr algn="l">
              <a:defRPr sz="142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문 닫기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E67CC4-3BA3-4588-807E-2BAF019A81EC}"/>
              </a:ext>
            </a:extLst>
          </p:cNvPr>
          <p:cNvSpPr>
            <a:spLocks noGrp="1"/>
          </p:cNvSpPr>
          <p:nvPr/>
        </p:nvSpPr>
        <p:spPr>
          <a:xfrm>
            <a:off x="6057900" y="3543300"/>
            <a:ext cx="2133600" cy="1428750"/>
          </a:xfrm>
          <a:prstGeom prst="rect">
            <a:avLst/>
          </a:prstGeom>
          <a:solidFill>
            <a:srgbClr val="DDFBEF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6AE8EAD-8765-4ACD-9C79-5E5991348EA2}"/>
              </a:ext>
            </a:extLst>
          </p:cNvPr>
          <p:cNvSpPr>
            <a:spLocks noGrp="1"/>
          </p:cNvSpPr>
          <p:nvPr/>
        </p:nvSpPr>
        <p:spPr>
          <a:xfrm>
            <a:off x="6267450" y="3771900"/>
            <a:ext cx="1714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복지관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27DA495-C015-4C12-9671-8BFDF064CB68}"/>
              </a:ext>
            </a:extLst>
          </p:cNvPr>
          <p:cNvSpPr>
            <a:spLocks noGrp="1"/>
          </p:cNvSpPr>
          <p:nvPr/>
        </p:nvSpPr>
        <p:spPr>
          <a:xfrm>
            <a:off x="6267450" y="4305300"/>
            <a:ext cx="1714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보호자와 함께</a:t>
            </a:r>
          </a:p>
          <a:p>
            <a:pPr algn="l">
              <a:defRPr sz="142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반복 연습하기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7865995-6DB2-465C-B3D3-BDEB76AA2754}"/>
              </a:ext>
            </a:extLst>
          </p:cNvPr>
          <p:cNvSpPr>
            <a:spLocks noGrp="1"/>
          </p:cNvSpPr>
          <p:nvPr/>
        </p:nvSpPr>
        <p:spPr>
          <a:xfrm>
            <a:off x="8648700" y="3543300"/>
            <a:ext cx="2133600" cy="1428750"/>
          </a:xfrm>
          <a:prstGeom prst="rect">
            <a:avLst/>
          </a:prstGeom>
          <a:solidFill>
            <a:srgbClr val="FFF3C4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03F4AC5-24DC-44E7-9DE2-9EFF7AE60CC1}"/>
              </a:ext>
            </a:extLst>
          </p:cNvPr>
          <p:cNvSpPr>
            <a:spLocks noGrp="1"/>
          </p:cNvSpPr>
          <p:nvPr/>
        </p:nvSpPr>
        <p:spPr>
          <a:xfrm>
            <a:off x="8858250" y="3771900"/>
            <a:ext cx="1714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길거리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07584CD-532B-4C82-ADA0-59E85B6E73B3}"/>
              </a:ext>
            </a:extLst>
          </p:cNvPr>
          <p:cNvSpPr>
            <a:spLocks noGrp="1"/>
          </p:cNvSpPr>
          <p:nvPr/>
        </p:nvSpPr>
        <p:spPr>
          <a:xfrm>
            <a:off x="8858250" y="4305300"/>
            <a:ext cx="1714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위험한 곳 피하기</a:t>
            </a:r>
          </a:p>
          <a:p>
            <a:pPr algn="l">
              <a:defRPr sz="142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어른에게 도움 요청하기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C276E41-B411-43F6-B319-5560C6F4C427}"/>
              </a:ext>
            </a:extLst>
          </p:cNvPr>
          <p:cNvSpPr>
            <a:spLocks noGrp="1"/>
          </p:cNvSpPr>
          <p:nvPr/>
        </p:nvSpPr>
        <p:spPr>
          <a:xfrm>
            <a:off x="1000125" y="5162550"/>
            <a:ext cx="8858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AI Agent는 영상을 단순히 설명하는 것이 아니라</a:t>
            </a:r>
          </a:p>
          <a:p>
            <a:pPr algn="l">
              <a:defRPr sz="1950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학습자가 실제 생활에서 기억해야 할 행동으로 바꿉니다.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8337B6F-C76A-46C2-949D-6269F296D345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571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rPr>
              <a:t>차근차근 AI 도우미</a:t>
            </a:r>
          </a:p>
        </p:txBody>
      </p:sp>
    </p:spTree>
    <p:extLst>
      <p:ext uri="{BB962C8B-B14F-4D97-AF65-F5344CB8AC3E}">
        <p14:creationId xmlns:p14="http://schemas.microsoft.com/office/powerpoint/2010/main" val="5920134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F600FAB3-7D67-4802-9B14-A04FD113E62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E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86E8A6-EFC6-4AA4-947C-199A48B466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FF6B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E9C200C-470E-4C16-9E0F-5DA239596B74}"/>
              </a:ext>
            </a:extLst>
          </p:cNvPr>
          <p:cNvSpPr>
            <a:spLocks noGrp="1"/>
          </p:cNvSpPr>
          <p:nvPr/>
        </p:nvSpPr>
        <p:spPr>
          <a:xfrm>
            <a:off x="9810750" y="495300"/>
            <a:ext cx="1809750" cy="1809750"/>
          </a:xfrm>
          <a:prstGeom prst="rect">
            <a:avLst/>
          </a:prstGeom>
          <a:solidFill>
            <a:srgbClr val="FFF1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DAB09D0-A7F2-429F-84DE-62F69C2BA758}"/>
              </a:ext>
            </a:extLst>
          </p:cNvPr>
          <p:cNvSpPr>
            <a:spLocks noGrp="1"/>
          </p:cNvSpPr>
          <p:nvPr/>
        </p:nvSpPr>
        <p:spPr>
          <a:xfrm>
            <a:off x="361950" y="5810250"/>
            <a:ext cx="1524000" cy="666750"/>
          </a:xfrm>
          <a:prstGeom prst="rect">
            <a:avLst/>
          </a:prstGeom>
          <a:solidFill>
            <a:srgbClr val="FFF7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7A2E6EE-2A3B-49CE-87B6-CADD5D840246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14300" cy="361950"/>
          </a:xfrm>
          <a:prstGeom prst="rect">
            <a:avLst/>
          </a:prstGeom>
          <a:solidFill>
            <a:srgbClr val="FF6B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5018669-A4B2-416D-AA84-9FA8BA67BA9F}"/>
              </a:ext>
            </a:extLst>
          </p:cNvPr>
          <p:cNvSpPr>
            <a:spLocks noGrp="1"/>
          </p:cNvSpPr>
          <p:nvPr/>
        </p:nvSpPr>
        <p:spPr>
          <a:xfrm>
            <a:off x="914400" y="457200"/>
            <a:ext cx="5334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신뢰성과 안전성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77202BA-BB2D-436A-BBE4-F8CDC6146AF2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73342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65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defRPr>
            </a:pPr>
            <a:r>
              <a:rPr sz="465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재난안전 서비스는</a:t>
            </a:r>
          </a:p>
          <a:p>
            <a:pPr algn="l">
              <a:defRPr sz="465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defRPr>
            </a:pPr>
            <a:r>
              <a:rPr sz="465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절대 틀리면 안 됩니다.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5F62A9E-08EB-4787-BF85-20000BE40E14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7239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그래서 차근차근 AI 도우미는</a:t>
            </a:r>
          </a:p>
          <a:p>
            <a:pPr algn="l">
              <a:defRPr sz="2100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AI가 자유롭게 행동지시를 만들지 않도록 설계했습니다.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8E9451B-BADE-4656-92CA-69EB74A7544C}"/>
              </a:ext>
            </a:extLst>
          </p:cNvPr>
          <p:cNvSpPr>
            <a:spLocks noGrp="1"/>
          </p:cNvSpPr>
          <p:nvPr/>
        </p:nvSpPr>
        <p:spPr>
          <a:xfrm>
            <a:off x="7810500" y="1428750"/>
            <a:ext cx="323850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FC87B6B-7321-4C9F-8EDA-398D8578FA48}"/>
              </a:ext>
            </a:extLst>
          </p:cNvPr>
          <p:cNvSpPr>
            <a:spLocks noGrp="1"/>
          </p:cNvSpPr>
          <p:nvPr/>
        </p:nvSpPr>
        <p:spPr>
          <a:xfrm>
            <a:off x="8020050" y="1600200"/>
            <a:ext cx="2819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확인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569A11C-C620-4962-8E92-9EA13847F791}"/>
              </a:ext>
            </a:extLst>
          </p:cNvPr>
          <p:cNvSpPr>
            <a:spLocks noGrp="1"/>
          </p:cNvSpPr>
          <p:nvPr/>
        </p:nvSpPr>
        <p:spPr>
          <a:xfrm>
            <a:off x="8020050" y="1924050"/>
            <a:ext cx="28194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공식 자료 기반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06C9E64-0FFF-43EF-9D26-8C4814E358CE}"/>
              </a:ext>
            </a:extLst>
          </p:cNvPr>
          <p:cNvSpPr>
            <a:spLocks noGrp="1"/>
          </p:cNvSpPr>
          <p:nvPr/>
        </p:nvSpPr>
        <p:spPr>
          <a:xfrm>
            <a:off x="8020050" y="2400300"/>
            <a:ext cx="2819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행동요령과 맞는지 확인합니다.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39949C5-88D7-4FF2-8625-23F4AF84FF55}"/>
              </a:ext>
            </a:extLst>
          </p:cNvPr>
          <p:cNvSpPr>
            <a:spLocks noGrp="1"/>
          </p:cNvSpPr>
          <p:nvPr/>
        </p:nvSpPr>
        <p:spPr>
          <a:xfrm>
            <a:off x="7810500" y="3143250"/>
            <a:ext cx="3238500" cy="1524000"/>
          </a:xfrm>
          <a:prstGeom prst="rect">
            <a:avLst/>
          </a:prstGeom>
          <a:solidFill>
            <a:srgbClr val="FFE5E5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15703B2-035C-4A9F-9D43-C4C72B655F9C}"/>
              </a:ext>
            </a:extLst>
          </p:cNvPr>
          <p:cNvSpPr>
            <a:spLocks noGrp="1"/>
          </p:cNvSpPr>
          <p:nvPr/>
        </p:nvSpPr>
        <p:spPr>
          <a:xfrm>
            <a:off x="8020050" y="3314700"/>
            <a:ext cx="2819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차단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39A5770-5FD1-4E36-99EE-C5B561B6A449}"/>
              </a:ext>
            </a:extLst>
          </p:cNvPr>
          <p:cNvSpPr>
            <a:spLocks noGrp="1"/>
          </p:cNvSpPr>
          <p:nvPr/>
        </p:nvSpPr>
        <p:spPr>
          <a:xfrm>
            <a:off x="8020050" y="3638550"/>
            <a:ext cx="28194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위험하거나 애매하면 멈춤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C039261-A458-4255-B4EA-DD26557EF5A8}"/>
              </a:ext>
            </a:extLst>
          </p:cNvPr>
          <p:cNvSpPr>
            <a:spLocks noGrp="1"/>
          </p:cNvSpPr>
          <p:nvPr/>
        </p:nvSpPr>
        <p:spPr>
          <a:xfrm>
            <a:off x="8020050" y="4152900"/>
            <a:ext cx="28194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학습 화면에 바로 보여주지 않습니다.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D1B83A0-05A4-4381-9A53-3001D55BDD38}"/>
              </a:ext>
            </a:extLst>
          </p:cNvPr>
          <p:cNvSpPr>
            <a:spLocks noGrp="1"/>
          </p:cNvSpPr>
          <p:nvPr/>
        </p:nvSpPr>
        <p:spPr>
          <a:xfrm>
            <a:off x="1333500" y="4457700"/>
            <a:ext cx="5334000" cy="819150"/>
          </a:xfrm>
          <a:prstGeom prst="rect">
            <a:avLst/>
          </a:prstGeom>
          <a:solidFill>
            <a:srgbClr val="FFF3C4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3E17BC2-D334-4129-B051-B1F375FA1290}"/>
              </a:ext>
            </a:extLst>
          </p:cNvPr>
          <p:cNvSpPr>
            <a:spLocks noGrp="1"/>
          </p:cNvSpPr>
          <p:nvPr/>
        </p:nvSpPr>
        <p:spPr>
          <a:xfrm>
            <a:off x="1543050" y="4686300"/>
            <a:ext cx="4914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실제 위험할 때는 119·112, 주변 어른, 현장 안내가 먼저입니다.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B01A0FB-A4FA-40A6-936C-849545484D28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571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rPr>
              <a:t>차근차근 AI 도우미</a:t>
            </a:r>
          </a:p>
        </p:txBody>
      </p:sp>
    </p:spTree>
    <p:extLst>
      <p:ext uri="{BB962C8B-B14F-4D97-AF65-F5344CB8AC3E}">
        <p14:creationId xmlns:p14="http://schemas.microsoft.com/office/powerpoint/2010/main" val="2129292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DD2238DB-C27B-4C82-B7FE-B659DDF477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E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24322AD-9B53-4B98-B4B7-314EAB9AAB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7BE0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A36416B-D82D-4E11-8EE2-D8C764D983FB}"/>
              </a:ext>
            </a:extLst>
          </p:cNvPr>
          <p:cNvSpPr>
            <a:spLocks noGrp="1"/>
          </p:cNvSpPr>
          <p:nvPr/>
        </p:nvSpPr>
        <p:spPr>
          <a:xfrm>
            <a:off x="9810750" y="495300"/>
            <a:ext cx="1809750" cy="1809750"/>
          </a:xfrm>
          <a:prstGeom prst="rect">
            <a:avLst/>
          </a:prstGeom>
          <a:solidFill>
            <a:srgbClr val="E6FF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19148A9-BFC9-4AC2-82BA-A3F42F763BEB}"/>
              </a:ext>
            </a:extLst>
          </p:cNvPr>
          <p:cNvSpPr>
            <a:spLocks noGrp="1"/>
          </p:cNvSpPr>
          <p:nvPr/>
        </p:nvSpPr>
        <p:spPr>
          <a:xfrm>
            <a:off x="361950" y="5810250"/>
            <a:ext cx="1524000" cy="666750"/>
          </a:xfrm>
          <a:prstGeom prst="rect">
            <a:avLst/>
          </a:prstGeom>
          <a:solidFill>
            <a:srgbClr val="EAF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F9A9DEF-3E9E-49CE-8596-C684CC5C77C1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14300" cy="361950"/>
          </a:xfrm>
          <a:prstGeom prst="rect">
            <a:avLst/>
          </a:prstGeom>
          <a:solidFill>
            <a:srgbClr val="7BE0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49C54A4-5BF9-4C35-B7AF-A48824B46533}"/>
              </a:ext>
            </a:extLst>
          </p:cNvPr>
          <p:cNvSpPr>
            <a:spLocks noGrp="1"/>
          </p:cNvSpPr>
          <p:nvPr/>
        </p:nvSpPr>
        <p:spPr>
          <a:xfrm>
            <a:off x="914400" y="457200"/>
            <a:ext cx="5334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기대 효과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A0593BF-0885-441A-A125-5AAFB93EC0CD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8477250" cy="1333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90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defRPr>
            </a:pPr>
            <a:r>
              <a:rPr sz="390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재난 영상을 그냥 보는 것이 아니라</a:t>
            </a:r>
          </a:p>
          <a:p>
            <a:pPr algn="l">
              <a:defRPr sz="390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defRPr>
            </a:pPr>
            <a:r>
              <a:rPr sz="390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직접 따라 하며 기억하게 합니다.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00583B0-E20A-40EE-A691-17EF599299A6}"/>
              </a:ext>
            </a:extLst>
          </p:cNvPr>
          <p:cNvSpPr>
            <a:spLocks noGrp="1"/>
          </p:cNvSpPr>
          <p:nvPr/>
        </p:nvSpPr>
        <p:spPr>
          <a:xfrm>
            <a:off x="838200" y="3143250"/>
            <a:ext cx="2990850" cy="1619250"/>
          </a:xfrm>
          <a:prstGeom prst="rect">
            <a:avLst/>
          </a:prstGeom>
          <a:solidFill>
            <a:srgbClr val="DDFBEF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2FC3F46-08F5-483D-97DD-76214F770627}"/>
              </a:ext>
            </a:extLst>
          </p:cNvPr>
          <p:cNvSpPr>
            <a:spLocks noGrp="1"/>
          </p:cNvSpPr>
          <p:nvPr/>
        </p:nvSpPr>
        <p:spPr>
          <a:xfrm>
            <a:off x="1047750" y="3371850"/>
            <a:ext cx="2571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느린학습자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82A12AE-38C3-49B3-B994-C3CD36C706B6}"/>
              </a:ext>
            </a:extLst>
          </p:cNvPr>
          <p:cNvSpPr>
            <a:spLocks noGrp="1"/>
          </p:cNvSpPr>
          <p:nvPr/>
        </p:nvSpPr>
        <p:spPr>
          <a:xfrm>
            <a:off x="1047750" y="3924300"/>
            <a:ext cx="25717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장면을 멈춰 보고</a:t>
            </a:r>
          </a:p>
          <a:p>
            <a:pPr algn="l">
              <a:defRPr sz="16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해야 할 일을 직접 눌러 보며 기억합니다.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429C561-274A-4516-B87D-90C1156401BB}"/>
              </a:ext>
            </a:extLst>
          </p:cNvPr>
          <p:cNvSpPr>
            <a:spLocks noGrp="1"/>
          </p:cNvSpPr>
          <p:nvPr/>
        </p:nvSpPr>
        <p:spPr>
          <a:xfrm>
            <a:off x="4362450" y="3143250"/>
            <a:ext cx="2990850" cy="1619250"/>
          </a:xfrm>
          <a:prstGeom prst="rect">
            <a:avLst/>
          </a:prstGeom>
          <a:solidFill>
            <a:srgbClr val="EAF7FF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937E7A7-6140-4D07-9D84-62BA61782A75}"/>
              </a:ext>
            </a:extLst>
          </p:cNvPr>
          <p:cNvSpPr>
            <a:spLocks noGrp="1"/>
          </p:cNvSpPr>
          <p:nvPr/>
        </p:nvSpPr>
        <p:spPr>
          <a:xfrm>
            <a:off x="4572000" y="3371850"/>
            <a:ext cx="2571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공공 재난안전 영상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0958C60-BD3E-4F84-88C0-CFF14FA28AF1}"/>
              </a:ext>
            </a:extLst>
          </p:cNvPr>
          <p:cNvSpPr>
            <a:spLocks noGrp="1"/>
          </p:cNvSpPr>
          <p:nvPr/>
        </p:nvSpPr>
        <p:spPr>
          <a:xfrm>
            <a:off x="4572000" y="3924300"/>
            <a:ext cx="25717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더 많은 사람이 이해할 수 있는</a:t>
            </a:r>
          </a:p>
          <a:p>
            <a:pPr algn="l">
              <a:defRPr sz="16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상호작용형 학습 자료가 됩니다.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58E2185-122C-48CB-84FD-C7BB0C797826}"/>
              </a:ext>
            </a:extLst>
          </p:cNvPr>
          <p:cNvSpPr>
            <a:spLocks noGrp="1"/>
          </p:cNvSpPr>
          <p:nvPr/>
        </p:nvSpPr>
        <p:spPr>
          <a:xfrm>
            <a:off x="7886700" y="3143250"/>
            <a:ext cx="2990850" cy="1619250"/>
          </a:xfrm>
          <a:prstGeom prst="rect">
            <a:avLst/>
          </a:prstGeom>
          <a:solidFill>
            <a:srgbClr val="FFF3C4"/>
          </a:solidFill>
          <a:ln w="9525">
            <a:solidFill>
              <a:srgbClr val="D8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43A4AB1-F619-40BD-A696-8314A0F55B32}"/>
              </a:ext>
            </a:extLst>
          </p:cNvPr>
          <p:cNvSpPr>
            <a:spLocks noGrp="1"/>
          </p:cNvSpPr>
          <p:nvPr/>
        </p:nvSpPr>
        <p:spPr>
          <a:xfrm>
            <a:off x="8096250" y="3371850"/>
            <a:ext cx="2571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교사와 보호자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1D0B4B0-6E9F-4662-B0B1-34D50C98FAA0}"/>
              </a:ext>
            </a:extLst>
          </p:cNvPr>
          <p:cNvSpPr>
            <a:spLocks noGrp="1"/>
          </p:cNvSpPr>
          <p:nvPr/>
        </p:nvSpPr>
        <p:spPr>
          <a:xfrm>
            <a:off x="8096250" y="3924300"/>
            <a:ext cx="25717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짧은 장면과 카드로</a:t>
            </a:r>
          </a:p>
          <a:p>
            <a:pPr algn="l">
              <a:defRPr sz="16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반복 연습을 진행할 수 있습니다.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2A8C654-1871-4DC8-A318-3FCD04A79217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571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rPr>
              <a:t>차근차근 AI 도우미</a:t>
            </a:r>
          </a:p>
        </p:txBody>
      </p:sp>
    </p:spTree>
    <p:extLst>
      <p:ext uri="{BB962C8B-B14F-4D97-AF65-F5344CB8AC3E}">
        <p14:creationId xmlns:p14="http://schemas.microsoft.com/office/powerpoint/2010/main" val="20066802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13AAF560-0B77-4F20-84CE-050B446231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82F20E5-49C6-4609-BBA8-082830DB60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8FD3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5D9251C-D881-4F43-A6ED-A2FAA18E8595}"/>
              </a:ext>
            </a:extLst>
          </p:cNvPr>
          <p:cNvSpPr>
            <a:spLocks noGrp="1"/>
          </p:cNvSpPr>
          <p:nvPr/>
        </p:nvSpPr>
        <p:spPr>
          <a:xfrm>
            <a:off x="9810750" y="495300"/>
            <a:ext cx="1809750" cy="1809750"/>
          </a:xfrm>
          <a:prstGeom prst="rect">
            <a:avLst/>
          </a:prstGeom>
          <a:solidFill>
            <a:srgbClr val="DDF4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6FD3C2E-338F-404B-8D0B-B86DD46DF45D}"/>
              </a:ext>
            </a:extLst>
          </p:cNvPr>
          <p:cNvSpPr>
            <a:spLocks noGrp="1"/>
          </p:cNvSpPr>
          <p:nvPr/>
        </p:nvSpPr>
        <p:spPr>
          <a:xfrm>
            <a:off x="361950" y="5810250"/>
            <a:ext cx="1524000" cy="666750"/>
          </a:xfrm>
          <a:prstGeom prst="rect">
            <a:avLst/>
          </a:prstGeom>
          <a:solidFill>
            <a:srgbClr val="F1FF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764B686-F945-4040-8F26-6ACA85664EF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14300" cy="361950"/>
          </a:xfrm>
          <a:prstGeom prst="rect">
            <a:avLst/>
          </a:prstGeom>
          <a:solidFill>
            <a:srgbClr val="8FD3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2D93AB1-4691-4372-90E7-C75335AFEC30}"/>
              </a:ext>
            </a:extLst>
          </p:cNvPr>
          <p:cNvSpPr>
            <a:spLocks noGrp="1"/>
          </p:cNvSpPr>
          <p:nvPr/>
        </p:nvSpPr>
        <p:spPr>
          <a:xfrm>
            <a:off x="914400" y="457200"/>
            <a:ext cx="5334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마무리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CB7B1DE-07A2-4412-9BFA-5B54B8F5EDF7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809625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80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defRPr>
            </a:pPr>
            <a:r>
              <a:rPr sz="480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재난안전 정보는</a:t>
            </a:r>
          </a:p>
          <a:p>
            <a:pPr algn="l">
              <a:defRPr sz="480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defRPr>
            </a:pPr>
            <a:r>
              <a:rPr sz="4800" b="1">
                <a:solidFill>
                  <a:srgbClr val="12231D"/>
                </a:solidFill>
                <a:latin typeface="BM DoHyeon OTF"/>
                <a:ea typeface="BM DoHyeon OTF"/>
                <a:cs typeface="BM DoHyeon OTF"/>
              </a:rPr>
              <a:t>모두에게 도착해야 합니다.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3C3D1C7-42E8-4493-B2D4-2D7ABAECFA01}"/>
              </a:ext>
            </a:extLst>
          </p:cNvPr>
          <p:cNvSpPr>
            <a:spLocks noGrp="1"/>
          </p:cNvSpPr>
          <p:nvPr/>
        </p:nvSpPr>
        <p:spPr>
          <a:xfrm>
            <a:off x="914400" y="3143250"/>
            <a:ext cx="3048000" cy="4191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418A7EC-5B78-456C-807F-6E909AE80836}"/>
              </a:ext>
            </a:extLst>
          </p:cNvPr>
          <p:cNvSpPr>
            <a:spLocks noGrp="1"/>
          </p:cNvSpPr>
          <p:nvPr/>
        </p:nvSpPr>
        <p:spPr>
          <a:xfrm>
            <a:off x="1085850" y="3219450"/>
            <a:ext cx="2705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빠른 영상을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ABDCF0B-118A-41E4-8D82-39399C8B4EBA}"/>
              </a:ext>
            </a:extLst>
          </p:cNvPr>
          <p:cNvSpPr>
            <a:spLocks noGrp="1"/>
          </p:cNvSpPr>
          <p:nvPr/>
        </p:nvSpPr>
        <p:spPr>
          <a:xfrm>
            <a:off x="4333875" y="3143250"/>
            <a:ext cx="419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46FEBDC-AD87-4228-99A3-C8196EA996A2}"/>
              </a:ext>
            </a:extLst>
          </p:cNvPr>
          <p:cNvSpPr>
            <a:spLocks noGrp="1"/>
          </p:cNvSpPr>
          <p:nvPr/>
        </p:nvSpPr>
        <p:spPr>
          <a:xfrm>
            <a:off x="5010150" y="3143250"/>
            <a:ext cx="4953000" cy="419100"/>
          </a:xfrm>
          <a:prstGeom prst="rect">
            <a:avLst/>
          </a:prstGeom>
          <a:solidFill>
            <a:srgbClr val="EAF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FC137CF-306F-4FA6-9191-1F1E2B8C68C6}"/>
              </a:ext>
            </a:extLst>
          </p:cNvPr>
          <p:cNvSpPr>
            <a:spLocks noGrp="1"/>
          </p:cNvSpPr>
          <p:nvPr/>
        </p:nvSpPr>
        <p:spPr>
          <a:xfrm>
            <a:off x="5181600" y="3219450"/>
            <a:ext cx="4610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천천히 나누고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C229D7A-F467-4F5B-8A43-987C3D5972CF}"/>
              </a:ext>
            </a:extLst>
          </p:cNvPr>
          <p:cNvSpPr>
            <a:spLocks noGrp="1"/>
          </p:cNvSpPr>
          <p:nvPr/>
        </p:nvSpPr>
        <p:spPr>
          <a:xfrm>
            <a:off x="914400" y="3886200"/>
            <a:ext cx="3048000" cy="4191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EEA1576-0A6B-4B05-AE81-43E659BE7887}"/>
              </a:ext>
            </a:extLst>
          </p:cNvPr>
          <p:cNvSpPr>
            <a:spLocks noGrp="1"/>
          </p:cNvSpPr>
          <p:nvPr/>
        </p:nvSpPr>
        <p:spPr>
          <a:xfrm>
            <a:off x="1085850" y="3962400"/>
            <a:ext cx="2705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어려운 말을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1502B4E-2BDE-460E-B9B8-AEE523D40148}"/>
              </a:ext>
            </a:extLst>
          </p:cNvPr>
          <p:cNvSpPr>
            <a:spLocks noGrp="1"/>
          </p:cNvSpPr>
          <p:nvPr/>
        </p:nvSpPr>
        <p:spPr>
          <a:xfrm>
            <a:off x="4333875" y="3886200"/>
            <a:ext cx="419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8AEB6B7-1A8E-4E8C-983B-5E18B0350CBA}"/>
              </a:ext>
            </a:extLst>
          </p:cNvPr>
          <p:cNvSpPr>
            <a:spLocks noGrp="1"/>
          </p:cNvSpPr>
          <p:nvPr/>
        </p:nvSpPr>
        <p:spPr>
          <a:xfrm>
            <a:off x="5010150" y="3886200"/>
            <a:ext cx="4953000" cy="419100"/>
          </a:xfrm>
          <a:prstGeom prst="rect">
            <a:avLst/>
          </a:prstGeom>
          <a:solidFill>
            <a:srgbClr val="DDFB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5359F42-4AEF-48B0-A7A4-779C395B0626}"/>
              </a:ext>
            </a:extLst>
          </p:cNvPr>
          <p:cNvSpPr>
            <a:spLocks noGrp="1"/>
          </p:cNvSpPr>
          <p:nvPr/>
        </p:nvSpPr>
        <p:spPr>
          <a:xfrm>
            <a:off x="5181600" y="3962400"/>
            <a:ext cx="4610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쉬운 말로 바꾸고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2429A06-C63A-4A13-8353-1EE71027A157}"/>
              </a:ext>
            </a:extLst>
          </p:cNvPr>
          <p:cNvSpPr>
            <a:spLocks noGrp="1"/>
          </p:cNvSpPr>
          <p:nvPr/>
        </p:nvSpPr>
        <p:spPr>
          <a:xfrm>
            <a:off x="914400" y="4629150"/>
            <a:ext cx="3048000" cy="4191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1CBF39F-1F46-4BB5-9AA2-BFCB54D7EB16}"/>
              </a:ext>
            </a:extLst>
          </p:cNvPr>
          <p:cNvSpPr>
            <a:spLocks noGrp="1"/>
          </p:cNvSpPr>
          <p:nvPr/>
        </p:nvSpPr>
        <p:spPr>
          <a:xfrm>
            <a:off x="1085850" y="4705350"/>
            <a:ext cx="2705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중요한 행동을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82CCCD9-C371-4338-B20C-513D78BFC100}"/>
              </a:ext>
            </a:extLst>
          </p:cNvPr>
          <p:cNvSpPr>
            <a:spLocks noGrp="1"/>
          </p:cNvSpPr>
          <p:nvPr/>
        </p:nvSpPr>
        <p:spPr>
          <a:xfrm>
            <a:off x="4333875" y="4629150"/>
            <a:ext cx="419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2027B41-C2E7-4D7B-A1D2-2170471A3CB0}"/>
              </a:ext>
            </a:extLst>
          </p:cNvPr>
          <p:cNvSpPr>
            <a:spLocks noGrp="1"/>
          </p:cNvSpPr>
          <p:nvPr/>
        </p:nvSpPr>
        <p:spPr>
          <a:xfrm>
            <a:off x="5010150" y="4629150"/>
            <a:ext cx="4953000" cy="419100"/>
          </a:xfrm>
          <a:prstGeom prst="rect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F23731B-0D1F-4E21-B4B8-60C8AC8A9969}"/>
              </a:ext>
            </a:extLst>
          </p:cNvPr>
          <p:cNvSpPr>
            <a:spLocks noGrp="1"/>
          </p:cNvSpPr>
          <p:nvPr/>
        </p:nvSpPr>
        <p:spPr>
          <a:xfrm>
            <a:off x="5181600" y="4705350"/>
            <a:ext cx="4610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카드로 연습하게 합니다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275A2F1-0435-4604-9B08-0711DA661185}"/>
              </a:ext>
            </a:extLst>
          </p:cNvPr>
          <p:cNvSpPr>
            <a:spLocks noGrp="1"/>
          </p:cNvSpPr>
          <p:nvPr/>
        </p:nvSpPr>
        <p:spPr>
          <a:xfrm>
            <a:off x="1390650" y="5524500"/>
            <a:ext cx="80962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차근차근 AI 도우미는</a:t>
            </a:r>
          </a:p>
          <a:p>
            <a:pPr algn="l">
              <a:defRPr sz="21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느린학습자를 위한 생활 안전 학습 Agent입니다.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C5C0656-8568-449B-8590-BB7A7985637A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571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rPr>
              <a:t>차근차근 AI 도우미</a:t>
            </a:r>
          </a:p>
        </p:txBody>
      </p:sp>
    </p:spTree>
    <p:extLst>
      <p:ext uri="{BB962C8B-B14F-4D97-AF65-F5344CB8AC3E}">
        <p14:creationId xmlns:p14="http://schemas.microsoft.com/office/powerpoint/2010/main" val="192038222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1605</Words>
  <Application>Microsoft Macintosh PowerPoint</Application>
  <DocSecurity>0</DocSecurity>
  <PresentationFormat>와이드스크린</PresentationFormat>
  <Paragraphs>382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3" baseType="lpstr">
      <vt:lpstr>Apple SD Gothic Neo</vt:lpstr>
      <vt:lpstr>BM DoHyeon OTF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이재형</cp:lastModifiedBy>
  <cp:revision>12</cp:revision>
  <dcterms:created xsi:type="dcterms:W3CDTF">2026-05-28T11:01:36Z</dcterms:created>
  <dcterms:modified xsi:type="dcterms:W3CDTF">2026-05-28T12:16:16Z</dcterms:modified>
</cp:coreProperties>
</file>