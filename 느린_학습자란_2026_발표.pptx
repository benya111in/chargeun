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3083b9d7854cf3" /><Relationship Type="http://schemas.openxmlformats.org/officeDocument/2006/relationships/extended-properties" Target="/docProps/app.xml" Id="R76022764b45f4b20" /><Relationship Type="http://schemas.openxmlformats.org/officeDocument/2006/relationships/officeDocument" Target="/ppt/presentation.xml" Id="Ra4557583fd2646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098603d5d740ba"/>
  </p:sldMasterIdLst>
  <p:notesMasterIdLst>
    <p:notesMasterId xmlns:r="http://schemas.openxmlformats.org/officeDocument/2006/relationships" r:id="R42c7212cddce4759"/>
  </p:notesMasterIdLst>
  <p:sldIdLst>
    <p:sldId xmlns:r="http://schemas.openxmlformats.org/officeDocument/2006/relationships" id="256" r:id="R70d15ac97b624539"/>
    <p:sldId xmlns:r="http://schemas.openxmlformats.org/officeDocument/2006/relationships" id="257" r:id="Rc18d16549d4e4a4d"/>
    <p:sldId xmlns:r="http://schemas.openxmlformats.org/officeDocument/2006/relationships" id="258" r:id="Rd7ed0c3b18d04ed7"/>
    <p:sldId xmlns:r="http://schemas.openxmlformats.org/officeDocument/2006/relationships" id="259" r:id="Re5521716fc3e4188"/>
    <p:sldId xmlns:r="http://schemas.openxmlformats.org/officeDocument/2006/relationships" id="260" r:id="R490b19dfb9b24a03"/>
    <p:sldId xmlns:r="http://schemas.openxmlformats.org/officeDocument/2006/relationships" id="261" r:id="R299b2b2833a4471e"/>
    <p:sldId xmlns:r="http://schemas.openxmlformats.org/officeDocument/2006/relationships" id="262" r:id="R285f17c549f34b32"/>
    <p:sldId xmlns:r="http://schemas.openxmlformats.org/officeDocument/2006/relationships" id="263" r:id="Rf07956e5bad1496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098603d5d740ba" /><Relationship Type="http://schemas.openxmlformats.org/officeDocument/2006/relationships/theme" Target="/ppt/theme/theme1.xml" Id="Ra864715ff76248bb" /><Relationship Type="http://schemas.openxmlformats.org/officeDocument/2006/relationships/notesMaster" Target="/ppt/notesMasters/notesMaster1.xml" Id="R42c7212cddce4759" /><Relationship Type="http://schemas.openxmlformats.org/officeDocument/2006/relationships/presProps" Target="/ppt/presProps.xml" Id="R3090e0b7bf7f403b" /><Relationship Type="http://schemas.openxmlformats.org/officeDocument/2006/relationships/viewProps" Target="/ppt/viewProps.xml" Id="R1cdf13375e2b4bbf" /><Relationship Type="http://schemas.openxmlformats.org/officeDocument/2006/relationships/tableStyles" Target="/ppt/tableStyles.xml" Id="Ra0a9c2fdc0f84e49" /><Relationship Type="http://schemas.openxmlformats.org/officeDocument/2006/relationships/slide" Target="/ppt/slides/slide1.xml" Id="R70d15ac97b624539" /><Relationship Type="http://schemas.openxmlformats.org/officeDocument/2006/relationships/slide" Target="/ppt/slides/slide2.xml" Id="Rc18d16549d4e4a4d" /><Relationship Type="http://schemas.openxmlformats.org/officeDocument/2006/relationships/slide" Target="/ppt/slides/slide3.xml" Id="Rd7ed0c3b18d04ed7" /><Relationship Type="http://schemas.openxmlformats.org/officeDocument/2006/relationships/slide" Target="/ppt/slides/slide4.xml" Id="Re5521716fc3e4188" /><Relationship Type="http://schemas.openxmlformats.org/officeDocument/2006/relationships/slide" Target="/ppt/slides/slide5.xml" Id="R490b19dfb9b24a03" /><Relationship Type="http://schemas.openxmlformats.org/officeDocument/2006/relationships/slide" Target="/ppt/slides/slide6.xml" Id="R299b2b2833a4471e" /><Relationship Type="http://schemas.openxmlformats.org/officeDocument/2006/relationships/slide" Target="/ppt/slides/slide7.xml" Id="R285f17c549f34b32" /><Relationship Type="http://schemas.openxmlformats.org/officeDocument/2006/relationships/slide" Target="/ppt/slides/slide8.xml" Id="Rf07956e5bad149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37c402887d547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516056c6cc48ff" /><Relationship Type="http://schemas.openxmlformats.org/officeDocument/2006/relationships/notesMaster" Target="/ppt/notesMasters/notesMaster1.xml" Id="R40a7c03b89f94b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8bd61bcdea4aad" /><Relationship Type="http://schemas.openxmlformats.org/officeDocument/2006/relationships/notesMaster" Target="/ppt/notesMasters/notesMaster1.xml" Id="Rda7158e9a2a24f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d987ff626c44c2" /><Relationship Type="http://schemas.openxmlformats.org/officeDocument/2006/relationships/notesMaster" Target="/ppt/notesMasters/notesMaster1.xml" Id="Rc4703721516f4a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485506f1c24eb9" /><Relationship Type="http://schemas.openxmlformats.org/officeDocument/2006/relationships/notesMaster" Target="/ppt/notesMasters/notesMaster1.xml" Id="R972006ccbb9049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72b4cdd4ab4e26" /><Relationship Type="http://schemas.openxmlformats.org/officeDocument/2006/relationships/notesMaster" Target="/ppt/notesMasters/notesMaster1.xml" Id="R5f29db8bc27847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05cdb81af645d9" /><Relationship Type="http://schemas.openxmlformats.org/officeDocument/2006/relationships/notesMaster" Target="/ppt/notesMasters/notesMaster1.xml" Id="R47568ec1e43c43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958320683d4527" /><Relationship Type="http://schemas.openxmlformats.org/officeDocument/2006/relationships/notesMaster" Target="/ppt/notesMasters/notesMaster1.xml" Id="R4cd409c7ce6b4b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5c1cfa182a4336" /><Relationship Type="http://schemas.openxmlformats.org/officeDocument/2006/relationships/notesMaster" Target="/ppt/notesMasters/notesMaster1.xml" Id="R3feeb9aac89b4c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97851446fc4d4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e4d3d2dc22842fa" /><Relationship Type="http://schemas.openxmlformats.org/officeDocument/2006/relationships/slideLayout" Target="/ppt/slideLayouts/slideLayout2.xml" Id="R33f93cb46b1245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f93cb46b1245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1723e4f0bb4c5c" /><Relationship Type="http://schemas.openxmlformats.org/officeDocument/2006/relationships/notesSlide" Target="/ppt/notesSlides/notesSlide1.xml" Id="R1db96ead4ef849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1e74e7ebbd471b" /><Relationship Type="http://schemas.openxmlformats.org/officeDocument/2006/relationships/notesSlide" Target="/ppt/notesSlides/notesSlide2.xml" Id="R6231208bf4fb47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ad05a650b5419c" /><Relationship Type="http://schemas.openxmlformats.org/officeDocument/2006/relationships/notesSlide" Target="/ppt/notesSlides/notesSlide3.xml" Id="R0541beb740bf40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111697670b4a40" /><Relationship Type="http://schemas.openxmlformats.org/officeDocument/2006/relationships/notesSlide" Target="/ppt/notesSlides/notesSlide4.xml" Id="R89f9efa2f4a643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b1e62c32924cc5" /><Relationship Type="http://schemas.openxmlformats.org/officeDocument/2006/relationships/notesSlide" Target="/ppt/notesSlides/notesSlide5.xml" Id="R1a810ee737d949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f740f9694f4b93" /><Relationship Type="http://schemas.openxmlformats.org/officeDocument/2006/relationships/notesSlide" Target="/ppt/notesSlides/notesSlide6.xml" Id="R97efbe1e07da4d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bf0ee35cc346ff" /><Relationship Type="http://schemas.openxmlformats.org/officeDocument/2006/relationships/notesSlide" Target="/ppt/notesSlides/notesSlide7.xml" Id="Rfcff5ae6515047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cece554ecd4671" /><Relationship Type="http://schemas.openxmlformats.org/officeDocument/2006/relationships/notesSlide" Target="/ppt/notesSlides/notesSlide8.xml" Id="R3aa1e941826d453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544247-56BD-4066-A9C4-E404ECF0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E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93D83-C3A7-4C10-A32A-F64F008C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E0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3C70CF-30FD-4A73-872D-F0C829B7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530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F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182EC-D74D-4E7B-A0BF-BBA383A7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8102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92A05-CFDE-4B8D-9F53-4E77EA67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4"/>
          </a:solidFill>
          <a:ln xmlns:a="http://schemas.openxmlformats.org/drawingml/2006/main" w="9525">
            <a:solidFill>
              <a:srgbClr val="F5C8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83134-BF99-4173-AF5D-2A10D8E6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33450"/>
            <a:ext cx="158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2026년 5월 기준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06FA76-7720-43CD-BB00-09DE076B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619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2231D"/>
                </a:solidFill>
                <a:latin typeface="BM Dohyeon"/>
                <a:ea typeface="BM Dohyeon"/>
                <a:cs typeface="BM Dohyeon"/>
              </a:defRPr>
            </a:pPr>
            <a:r>
              <a:rPr sz="5700" b="1">
                <a:solidFill>
                  <a:srgbClr val="12231D"/>
                </a:solidFill>
                <a:latin typeface="BM Dohyeon"/>
                <a:ea typeface="BM Dohyeon"/>
                <a:cs typeface="BM Dohyeon"/>
              </a:rPr>
              <a:t>느린 학습자란?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1E36B4-BA51-4774-9D7B-B4DDAFC3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장애와 비장애 사이에서</a:t>
            </a:r>
          </a:p>
          <a:p xmlns:a="http://schemas.openxmlformats.org/drawingml/2006/main">
            <a:pPr algn="l">
              <a:defRPr sz="2475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학습 속도와 이해 방식에</a:t>
            </a:r>
          </a:p>
          <a:p xmlns:a="http://schemas.openxmlformats.org/drawingml/2006/main">
            <a:pPr algn="l">
              <a:defRPr sz="2475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도움이 필요한 사람들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5CCFE4-6AAC-4593-93DE-171237ED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F"/>
          </a:solidFill>
          <a:ln xmlns:a="http://schemas.openxmlformats.org/drawingml/2006/main" w="9525">
            <a:solidFill>
              <a:srgbClr val="D8E6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81087D-0101-4DA5-BBE9-2E302984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81200"/>
            <a:ext cx="3009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핵심 문장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A829D-40EC-471E-9583-01BAA9F3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05050"/>
            <a:ext cx="3009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느린 것이 문제라기보다</a:t>
            </a:r>
          </a:p>
          <a:p xmlns:a="http://schemas.openxmlformats.org/drawingml/2006/main">
            <a:pPr algn="l">
              <a:defRPr sz="22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맞지 않는 방식이 문제입니다.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CCA85D-E620-4A8F-AEE2-B9C103DC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71850"/>
            <a:ext cx="3009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천천히, 짧게, 반복해서 배울 때</a:t>
            </a:r>
          </a:p>
          <a:p xmlns:a="http://schemas.openxmlformats.org/drawingml/2006/main">
            <a:pPr algn="l">
              <a:defRPr sz="16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더 잘 이해할 수 있습니다.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945F8A-A207-43F1-B49E-17C29530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990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차근차근 AI 도우미 발표 보조 자료</a:t>
            </a:r>
          </a:p>
        </p:txBody>
      </p:sp>
    </p:spTree>
    <p:extLst>
      <p:ext uri="{BB962C8B-B14F-4D97-AF65-F5344CB8AC3E}">
        <p14:creationId xmlns:p14="http://schemas.microsoft.com/office/powerpoint/2010/main" val="15368693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9DD560-3774-4356-A9BC-2154B99A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5D7CA-E64E-42BA-BB7D-6B571D8F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E952E-BB33-4CCF-AE21-56AF90F9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530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76627-6663-4009-8ED0-A3A06227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8102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F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59AE3-94B0-428F-86DF-FB297FCE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14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B81F3F-7823-4D5D-AB2A-3EF36C31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"/>
            <a:ext cx="609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정의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8F19B-57BC-40CB-A6CB-9BDB99CE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572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2231D"/>
                </a:solidFill>
                <a:latin typeface="BM Dohyeon"/>
                <a:ea typeface="BM Dohyeon"/>
                <a:cs typeface="BM Dohyeon"/>
              </a:defRPr>
            </a:pPr>
            <a:r>
              <a:rPr sz="4050" b="1">
                <a:solidFill>
                  <a:srgbClr val="12231D"/>
                </a:solidFill>
                <a:latin typeface="BM Dohyeon"/>
                <a:ea typeface="BM Dohyeon"/>
                <a:cs typeface="BM Dohyeon"/>
              </a:rPr>
              <a:t>느린 학습자는</a:t>
            </a:r>
          </a:p>
          <a:p xmlns:a="http://schemas.openxmlformats.org/drawingml/2006/main">
            <a:pPr algn="l">
              <a:defRPr sz="4050" b="1">
                <a:solidFill>
                  <a:srgbClr val="12231D"/>
                </a:solidFill>
                <a:latin typeface="BM Dohyeon"/>
                <a:ea typeface="BM Dohyeon"/>
                <a:cs typeface="BM Dohyeon"/>
              </a:defRPr>
            </a:pPr>
            <a:r>
              <a:rPr sz="4050" b="1">
                <a:solidFill>
                  <a:srgbClr val="12231D"/>
                </a:solidFill>
                <a:latin typeface="BM Dohyeon"/>
                <a:ea typeface="BM Dohyeon"/>
                <a:cs typeface="BM Dohyeon"/>
              </a:rPr>
              <a:t>“못하는 사람”이 아니라</a:t>
            </a:r>
          </a:p>
          <a:p xmlns:a="http://schemas.openxmlformats.org/drawingml/2006/main">
            <a:pPr algn="l">
              <a:defRPr sz="4050" b="1">
                <a:solidFill>
                  <a:srgbClr val="12231D"/>
                </a:solidFill>
                <a:latin typeface="BM Dohyeon"/>
                <a:ea typeface="BM Dohyeon"/>
                <a:cs typeface="BM Dohyeon"/>
              </a:defRPr>
            </a:pPr>
            <a:r>
              <a:rPr sz="4050" b="1">
                <a:solidFill>
                  <a:srgbClr val="12231D"/>
                </a:solidFill>
                <a:latin typeface="BM Dohyeon"/>
                <a:ea typeface="BM Dohyeon"/>
                <a:cs typeface="BM Dohyeon"/>
              </a:rPr>
              <a:t>다른 속도로 배우는 사람입니다.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49BB92-39DB-410F-93F4-C387BE37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781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자료마다 표현은 조금씩 다르지만,</a:t>
            </a:r>
          </a:p>
          <a:p xmlns:a="http://schemas.openxmlformats.org/drawingml/2006/main">
            <a:pPr algn="l">
              <a:defRPr sz="1875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느린 학습자는 대체로 경계선 지능 또는 그와 비슷한 학습 특성을 가진 사람을 말합니다.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0B1816-D49C-4677-A9BE-2812A9B8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4340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3BF6B6-FEFB-472B-B1EF-A4F735EA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72000"/>
            <a:ext cx="2438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지적장애는 아님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5F649E-8D7A-4A9C-B0A5-F0DC63DC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67300"/>
            <a:ext cx="2438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하지만 평균 속도는</a:t>
            </a:r>
          </a:p>
          <a:p xmlns:a="http://schemas.openxmlformats.org/drawingml/2006/main">
            <a:pPr algn="l">
              <a:def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따라가기 어려울 수 있어요.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731B0D-25ED-4940-A7AF-880FD930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4340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BEF"/>
          </a:solidFill>
          <a:ln xmlns:a="http://schemas.openxmlformats.org/drawingml/2006/main" w="9525">
            <a:solidFill>
              <a:srgbClr val="D8E6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9610F9-A446-447D-AD47-72AA5ADC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572000"/>
            <a:ext cx="2438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짧은 설명이 필요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BD3A41-15A3-4C39-B539-FA80696F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067300"/>
            <a:ext cx="2438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긴 말보다 작은 단계가</a:t>
            </a:r>
          </a:p>
          <a:p xmlns:a="http://schemas.openxmlformats.org/drawingml/2006/main">
            <a:pPr algn="l">
              <a:def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이해하기 쉽습니다.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F81448-8FE8-441B-ABE8-1D4DAB91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4340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4"/>
          </a:solidFill>
          <a:ln xmlns:a="http://schemas.openxmlformats.org/drawingml/2006/main" w="9525">
            <a:solidFill>
              <a:srgbClr val="D8E6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214876-99B7-4496-AC96-342D7606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72000"/>
            <a:ext cx="2438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반복이 중요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B83611-DF2D-4902-8D43-BDF03185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67300"/>
            <a:ext cx="2438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한 번보다 여러 번</a:t>
            </a:r>
          </a:p>
          <a:p xmlns:a="http://schemas.openxmlformats.org/drawingml/2006/main">
            <a:pPr algn="l">
              <a:def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확인할 때 기억됩니다.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9CC437-7AD7-4240-BEC6-7F6FE204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990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출처: 교육부·사회정책연구기관 공개토론회 보도, 연합뉴스(2022); W3C COGA 접근성 지침</a:t>
            </a:r>
          </a:p>
        </p:txBody>
      </p:sp>
    </p:spTree>
    <p:extLst>
      <p:ext uri="{BB962C8B-B14F-4D97-AF65-F5344CB8AC3E}">
        <p14:creationId xmlns:p14="http://schemas.microsoft.com/office/powerpoint/2010/main" val="188785083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1FDEDB-4E82-4B98-ABF1-622669F9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E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1DB9DC-1C79-4C90-841A-61AA8690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E0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4184D-C1EE-4C84-87C1-1C2CE602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530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F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1FD6E-F80B-44A6-BCBD-1405517E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8102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563C82-F328-4BF4-8871-4212D836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14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E0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0718B-152B-455A-8EB6-0C0087D4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"/>
            <a:ext cx="609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왜 놓치기 쉬운가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469F9-627A-4A54-879F-3C3F4794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191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2231D"/>
                </a:solidFill>
                <a:latin typeface="BM Dohyeon"/>
                <a:ea typeface="BM Dohyeon"/>
                <a:cs typeface="BM Dohyeon"/>
              </a:defRPr>
            </a:pPr>
            <a:r>
              <a:rPr sz="4200" b="1">
                <a:solidFill>
                  <a:srgbClr val="12231D"/>
                </a:solidFill>
                <a:latin typeface="BM Dohyeon"/>
                <a:ea typeface="BM Dohyeon"/>
                <a:cs typeface="BM Dohyeon"/>
              </a:rPr>
              <a:t>지원이 필요한데도</a:t>
            </a:r>
          </a:p>
          <a:p xmlns:a="http://schemas.openxmlformats.org/drawingml/2006/main">
            <a:pPr algn="l">
              <a:defRPr sz="4200" b="1">
                <a:solidFill>
                  <a:srgbClr val="12231D"/>
                </a:solidFill>
                <a:latin typeface="BM Dohyeon"/>
                <a:ea typeface="BM Dohyeon"/>
                <a:cs typeface="BM Dohyeon"/>
              </a:defRPr>
            </a:pPr>
            <a:r>
              <a:rPr sz="4200" b="1">
                <a:solidFill>
                  <a:srgbClr val="12231D"/>
                </a:solidFill>
                <a:latin typeface="BM Dohyeon"/>
                <a:ea typeface="BM Dohyeon"/>
                <a:cs typeface="BM Dohyeon"/>
              </a:rPr>
              <a:t>지원 대상에서 애매해지기 쉽습니다.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7D2876-B05F-4CFF-B9DF-31A34EF3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29908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F"/>
          </a:solidFill>
          <a:ln xmlns:a="http://schemas.openxmlformats.org/drawingml/2006/main" w="9525">
            <a:solidFill>
              <a:srgbClr val="D8E6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61D14E-61FF-4BC5-B5A5-A83CCB05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7660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특수교육 대상은 아님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0D5050-506B-47F1-8E39-AC8BD948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62375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법적·제도적 지원으로 바로 이어지지 않을 수 있습니다.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15B69-6A17-44FA-8DE6-C049DEF3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48000"/>
            <a:ext cx="29908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4"/>
          </a:solidFill>
          <a:ln xmlns:a="http://schemas.openxmlformats.org/drawingml/2006/main" w="9525">
            <a:solidFill>
              <a:srgbClr val="D8E6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884968-15A8-42AE-9467-B480E585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7660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일반 수업은 빠름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5BB5FF-9DC2-489B-8BC5-02042665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62375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장면 전환, 긴 문장, 추상적 설명을 놓치기 쉽습니다.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C003A0-E6DD-40C1-A6BC-8DE729D6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48000"/>
            <a:ext cx="29908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E5"/>
          </a:solidFill>
          <a:ln xmlns:a="http://schemas.openxmlformats.org/drawingml/2006/main" w="9525">
            <a:solidFill>
              <a:srgbClr val="D8E6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58743E-D910-4953-92DC-A47A36D9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7660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도움 요청도 어려움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52BFAF-D70E-4878-B652-4277DB8D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62375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무엇을 모르는지 말로 설명하기 어려울 수 있습니다.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903057-CD82-49B3-8EA9-0DA51DAA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48250"/>
            <a:ext cx="838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그래서 “느리게 다시 설명하면 된다”가 아니라,</a:t>
            </a:r>
          </a:p>
          <a:p xmlns:a="http://schemas.openxmlformats.org/drawingml/2006/main">
            <a:pPr algn="l">
              <a:defRPr sz="20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처음부터 이해 가능한 구조로 바꾸는 일이 필요합니다.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69D03F-35DA-4325-A7D1-3F79EB70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990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출처: W3C, Making Content Usable for People with Cognitive and Learning Disabilities</a:t>
            </a:r>
          </a:p>
        </p:txBody>
      </p:sp>
    </p:spTree>
    <p:extLst>
      <p:ext uri="{BB962C8B-B14F-4D97-AF65-F5344CB8AC3E}">
        <p14:creationId xmlns:p14="http://schemas.microsoft.com/office/powerpoint/2010/main" val="123846752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199FB9-34B8-4AAB-B456-355ECE90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E73A6-E8E0-4095-94D1-87F8403C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D57A04-1AE6-4CF0-8B9A-C5FE3DC8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530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B4A95-95FF-438B-9DEA-CA84FDAB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8102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F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E0529-DA34-4F66-85E7-ED69A5B5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14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D8F2EF-86CE-4367-8CB2-04A5E1C1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"/>
            <a:ext cx="609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필요한 학습 조건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F0D73-A091-48AA-8E1E-9F21D2E1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953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2231D"/>
                </a:solidFill>
                <a:latin typeface="BM Dohyeon"/>
                <a:ea typeface="BM Dohyeon"/>
                <a:cs typeface="BM Dohyeon"/>
              </a:defRPr>
            </a:pPr>
            <a:r>
              <a:rPr sz="3900" b="1">
                <a:solidFill>
                  <a:srgbClr val="12231D"/>
                </a:solidFill>
                <a:latin typeface="BM Dohyeon"/>
                <a:ea typeface="BM Dohyeon"/>
                <a:cs typeface="BM Dohyeon"/>
              </a:rPr>
              <a:t>느린 학습자에게 필요한 것은</a:t>
            </a:r>
          </a:p>
          <a:p xmlns:a="http://schemas.openxmlformats.org/drawingml/2006/main">
            <a:pPr algn="l">
              <a:defRPr sz="3900" b="1">
                <a:solidFill>
                  <a:srgbClr val="12231D"/>
                </a:solidFill>
                <a:latin typeface="BM Dohyeon"/>
                <a:ea typeface="BM Dohyeon"/>
                <a:cs typeface="BM Dohyeon"/>
              </a:defRPr>
            </a:pPr>
            <a:r>
              <a:rPr sz="3900" b="1">
                <a:solidFill>
                  <a:srgbClr val="12231D"/>
                </a:solidFill>
                <a:latin typeface="BM Dohyeon"/>
                <a:ea typeface="BM Dohyeon"/>
                <a:cs typeface="BM Dohyeon"/>
              </a:rPr>
              <a:t>작게 나누고, 직접 확인하는 과정입니다.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6104B0-B0DA-4C9D-8E19-3F21E410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3009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F"/>
          </a:solidFill>
          <a:ln xmlns:a="http://schemas.openxmlformats.org/drawingml/2006/main" w="9525">
            <a:solidFill>
              <a:srgbClr val="D8E6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A0D2C2-EB94-411D-8FBC-5FF954FC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짧은 단위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B4DFDA-398C-489E-8661-475ED238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2590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한 번에 하나씩 보기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54D4EA-A4EE-41D6-8A7E-20663696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14650"/>
            <a:ext cx="3009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BEF"/>
          </a:solidFill>
          <a:ln xmlns:a="http://schemas.openxmlformats.org/drawingml/2006/main" w="9525">
            <a:solidFill>
              <a:srgbClr val="D8E6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0992A6-D709-45B3-96BF-BAA4DBEC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86100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쉬운 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25EF4F-1BE0-4447-B534-45D7CF32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09950"/>
            <a:ext cx="2590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추상어보다 구체적인 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1C62BD-079F-4E01-ACCE-374D012E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14650"/>
            <a:ext cx="3009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4"/>
          </a:solidFill>
          <a:ln xmlns:a="http://schemas.openxmlformats.org/drawingml/2006/main" w="9525">
            <a:solidFill>
              <a:srgbClr val="D8E6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813030-8523-459F-869B-596C6E89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86100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시각 단서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E8CF86-4943-4F1E-AB5C-3BE0E6F3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09950"/>
            <a:ext cx="2590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글만보다 카드와 그림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7A20DC-41A5-49C6-A9D5-1F673138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38600"/>
            <a:ext cx="4286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FF"/>
          </a:solidFill>
          <a:ln xmlns:a="http://schemas.openxmlformats.org/drawingml/2006/main" w="9525">
            <a:solidFill>
              <a:srgbClr val="D8E6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CE472D-DD0F-4D7F-940C-8A6EB4BB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10050"/>
            <a:ext cx="386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반복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526DD1-DCDE-40B6-B883-F0D9DB06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533900"/>
            <a:ext cx="386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다시 보고 다시 누르기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6891AB-1B57-4B11-B90B-F50D34B5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8600"/>
            <a:ext cx="4286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E5"/>
          </a:solidFill>
          <a:ln xmlns:a="http://schemas.openxmlformats.org/drawingml/2006/main" w="9525">
            <a:solidFill>
              <a:srgbClr val="D8E6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92CD6B-3A89-45D6-965B-17805CAF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10050"/>
            <a:ext cx="386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어른과 함께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175589-BF53-450F-8664-5AD8626C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33900"/>
            <a:ext cx="386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교사·보호자와 확인하기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AFF3F2-1C52-4B56-9557-93460578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990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출처: W3C COGA 접근성 지침; Easy Read 원칙</a:t>
            </a:r>
          </a:p>
        </p:txBody>
      </p:sp>
    </p:spTree>
    <p:extLst>
      <p:ext uri="{BB962C8B-B14F-4D97-AF65-F5344CB8AC3E}">
        <p14:creationId xmlns:p14="http://schemas.microsoft.com/office/powerpoint/2010/main" val="5580296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156BBF-107D-47C8-94B4-F14C7211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E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EAE30-D3EB-42F4-90C0-2E9DD4B8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E0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A32C74-BA41-481A-881F-574D5F23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530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F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2FA8E2-0E85-4513-980A-B9A6AB13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8102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F6E721-5704-4F3A-AFBD-449AF64D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14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E0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3FD657-3CEC-43AE-89DB-3C361C3B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"/>
            <a:ext cx="609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2026년 5월 기준 정책 흐름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25E1D2-363C-4A62-8F50-DBF8CE22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572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231D"/>
                </a:solidFill>
                <a:latin typeface="BM Dohyeon"/>
                <a:ea typeface="BM Dohyeon"/>
                <a:cs typeface="BM Dohyeon"/>
              </a:defRPr>
            </a:pPr>
            <a:r>
              <a:rPr sz="3600" b="1">
                <a:solidFill>
                  <a:srgbClr val="12231D"/>
                </a:solidFill>
                <a:latin typeface="BM Dohyeon"/>
                <a:ea typeface="BM Dohyeon"/>
                <a:cs typeface="BM Dohyeon"/>
              </a:rPr>
              <a:t>교육 현장에서도</a:t>
            </a:r>
          </a:p>
          <a:p xmlns:a="http://schemas.openxmlformats.org/drawingml/2006/main">
            <a:pPr algn="l">
              <a:defRPr sz="3600" b="1">
                <a:solidFill>
                  <a:srgbClr val="12231D"/>
                </a:solidFill>
                <a:latin typeface="BM Dohyeon"/>
                <a:ea typeface="BM Dohyeon"/>
                <a:cs typeface="BM Dohyeon"/>
              </a:defRPr>
            </a:pPr>
            <a:r>
              <a:rPr sz="3600" b="1">
                <a:solidFill>
                  <a:srgbClr val="12231D"/>
                </a:solidFill>
                <a:latin typeface="BM Dohyeon"/>
                <a:ea typeface="BM Dohyeon"/>
                <a:cs typeface="BM Dohyeon"/>
              </a:rPr>
              <a:t>“한 명의 학생도 놓치지 않는 지원”이</a:t>
            </a:r>
          </a:p>
          <a:p xmlns:a="http://schemas.openxmlformats.org/drawingml/2006/main">
            <a:pPr algn="l">
              <a:defRPr sz="3600" b="1">
                <a:solidFill>
                  <a:srgbClr val="12231D"/>
                </a:solidFill>
                <a:latin typeface="BM Dohyeon"/>
                <a:ea typeface="BM Dohyeon"/>
                <a:cs typeface="BM Dohyeon"/>
              </a:defRPr>
            </a:pPr>
            <a:r>
              <a:rPr sz="3600" b="1">
                <a:solidFill>
                  <a:srgbClr val="12231D"/>
                </a:solidFill>
                <a:latin typeface="BM Dohyeon"/>
                <a:ea typeface="BM Dohyeon"/>
                <a:cs typeface="BM Dohyeon"/>
              </a:rPr>
              <a:t>강조되고 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7EF7EB-BA57-496A-A629-B28B812A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F"/>
          </a:solidFill>
          <a:ln xmlns:a="http://schemas.openxmlformats.org/drawingml/2006/main" w="9525">
            <a:solidFill>
              <a:srgbClr val="D8E6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8D3494-9E3D-44AB-90E6-572B1541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4343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교육부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104E12-1A6E-4FF9-9534-62517D59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434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학생맞춤통합지원법 시행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C69FB8-210A-4B0E-8B9D-B15DAD5E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434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학교와 교육청, 지역사회가 함께</a:t>
            </a:r>
          </a:p>
          <a:p xmlns:a="http://schemas.openxmlformats.org/drawingml/2006/main">
            <a:pPr algn="l">
              <a:defRPr sz="150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학생의 학습·심리·정서 어려움을</a:t>
            </a:r>
          </a:p>
          <a:p xmlns:a="http://schemas.openxmlformats.org/drawingml/2006/main">
            <a:pPr algn="l">
              <a:defRPr sz="150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통합적으로 지원하는 체계를 세웁니다.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C20954-CD11-4909-8384-765D5782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48000"/>
            <a:ext cx="4095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4"/>
          </a:solidFill>
          <a:ln xmlns:a="http://schemas.openxmlformats.org/drawingml/2006/main" w="9525">
            <a:solidFill>
              <a:srgbClr val="D8E6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8C342B-8FF5-4270-8E0F-EEBEEFAF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19450"/>
            <a:ext cx="367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서울시교육청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1D4148-DD88-46EA-B30A-05EC93FD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43300"/>
            <a:ext cx="3676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경계선지능 학생 지원 확대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2AA797-88F5-4B71-B202-D84B145F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38600"/>
            <a:ext cx="3676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2026 주요업무에서 의심 학생 조기 발굴과</a:t>
            </a:r>
          </a:p>
          <a:p xmlns:a="http://schemas.openxmlformats.org/drawingml/2006/main">
            <a:pPr algn="l">
              <a:defRPr sz="142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학생·학부모 지원 사업 확대를 명시했습니다.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AB371D-C760-46AC-8BA1-1E59140F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990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출처: 교육부/대한민국 정책브리핑(2026); 서울특별시교육청 2026 서울교육 주요업무</a:t>
            </a:r>
          </a:p>
        </p:txBody>
      </p:sp>
    </p:spTree>
    <p:extLst>
      <p:ext uri="{BB962C8B-B14F-4D97-AF65-F5344CB8AC3E}">
        <p14:creationId xmlns:p14="http://schemas.microsoft.com/office/powerpoint/2010/main" val="212380343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BC49C9-8976-4959-891A-8A022D64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819FF6-6155-4B5F-8F07-AF943640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3128D0-7E32-4605-9D72-875F3A5D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530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D1492-EE48-4B7F-BADE-CF1A5159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8102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F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B25D17-2717-4ED2-8A6F-2508E1D5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14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52082A-1152-4813-95B2-6C8D3CE0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"/>
            <a:ext cx="609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지역의 움직임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064734-71C3-4E8C-8BB1-28E68C38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953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2231D"/>
                </a:solidFill>
                <a:latin typeface="BM Dohyeon"/>
                <a:ea typeface="BM Dohyeon"/>
                <a:cs typeface="BM Dohyeon"/>
              </a:defRPr>
            </a:pPr>
            <a:r>
              <a:rPr sz="3750" b="1">
                <a:solidFill>
                  <a:srgbClr val="12231D"/>
                </a:solidFill>
                <a:latin typeface="BM Dohyeon"/>
                <a:ea typeface="BM Dohyeon"/>
                <a:cs typeface="BM Dohyeon"/>
              </a:rPr>
              <a:t>지자체와 교육청의 관심도</a:t>
            </a:r>
          </a:p>
          <a:p xmlns:a="http://schemas.openxmlformats.org/drawingml/2006/main">
            <a:pPr algn="l">
              <a:defRPr sz="3750" b="1">
                <a:solidFill>
                  <a:srgbClr val="12231D"/>
                </a:solidFill>
                <a:latin typeface="BM Dohyeon"/>
                <a:ea typeface="BM Dohyeon"/>
                <a:cs typeface="BM Dohyeon"/>
              </a:defRPr>
            </a:pPr>
            <a:r>
              <a:rPr sz="3750" b="1">
                <a:solidFill>
                  <a:srgbClr val="12231D"/>
                </a:solidFill>
                <a:latin typeface="BM Dohyeon"/>
                <a:ea typeface="BM Dohyeon"/>
                <a:cs typeface="BM Dohyeon"/>
              </a:rPr>
              <a:t>점점 구체적인 사업으로 바뀌고 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CA36E0-1468-48C2-999C-C2F23228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4762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BEF"/>
          </a:solidFill>
          <a:ln xmlns:a="http://schemas.openxmlformats.org/drawingml/2006/main" w="9525">
            <a:solidFill>
              <a:srgbClr val="D8E6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0C2E5-7F9E-41CA-90C0-835011D2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9900"/>
            <a:ext cx="434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서울시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96A0A1-6E1D-43E5-BE58-B5D78FE3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90900"/>
            <a:ext cx="4343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경계선지능인 평생교육 지원센터와 조례 기반 지원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4C33D1-AB3C-45E2-B99A-048A39A3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4762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4"/>
          </a:solidFill>
          <a:ln xmlns:a="http://schemas.openxmlformats.org/drawingml/2006/main" w="9525">
            <a:solidFill>
              <a:srgbClr val="D8E6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7D0978-47A2-4F9C-AD81-0CB19B23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09900"/>
            <a:ext cx="434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경기도교육청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A7A42E-82B6-4605-909B-74B05ACD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90900"/>
            <a:ext cx="4343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경계선지능·읽기곤란 등 복합요인 맞춤 지원 확대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77C983-8E66-444E-8C31-2662B20D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4762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BEF"/>
          </a:solidFill>
          <a:ln xmlns:a="http://schemas.openxmlformats.org/drawingml/2006/main" w="9525">
            <a:solidFill>
              <a:srgbClr val="D8E6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0FF2D4-6DCF-4F29-8FCC-43B2D94E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29100"/>
            <a:ext cx="434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부산교육청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EE9786-D977-48E6-B045-0297DF89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10100"/>
            <a:ext cx="4343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난독·난산·경계선지능 학생 맞춤형 지원 체계 구축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D70C7A-2FE0-4BFF-ABB9-E5B45D9F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4762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4"/>
          </a:solidFill>
          <a:ln xmlns:a="http://schemas.openxmlformats.org/drawingml/2006/main" w="9525">
            <a:solidFill>
              <a:srgbClr val="D8E6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AD749C-7B0E-44E1-A0B2-C72E2A71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29100"/>
            <a:ext cx="434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서울시교육청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6E2B8B-FE94-43F5-B82A-AFA6D981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10100"/>
            <a:ext cx="4343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1645C"/>
                </a:solidFill>
                <a:latin typeface="Apple SD Gothic Neo"/>
                <a:ea typeface="Apple SD Gothic Neo"/>
                <a:cs typeface="Apple SD Gothic Neo"/>
              </a:rPr>
              <a:t>경계선지능 의심 학생 조기 발굴과 학부모 지원 확대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AE90B0-A95B-423E-B109-0F29F095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990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출처: 서울시, 서울시교육청, 경기도교육청, 부산광역시교육청 공개자료</a:t>
            </a:r>
          </a:p>
        </p:txBody>
      </p:sp>
    </p:spTree>
    <p:extLst>
      <p:ext uri="{BB962C8B-B14F-4D97-AF65-F5344CB8AC3E}">
        <p14:creationId xmlns:p14="http://schemas.microsoft.com/office/powerpoint/2010/main" val="186033827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4C2172-7850-4231-BAE1-4604DEB9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E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CAD72E-B641-4956-97A4-56277806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E0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591B04-71A9-42BA-81D8-43E6F5E2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530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F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1671E8-49AF-40FF-B63B-DAC724E6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8102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BB282-5C1E-4D8D-A951-8B7961D9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14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E0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540B5-FE49-47EB-9EFF-9450D467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"/>
            <a:ext cx="609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차근차근 AI 도우미와 연결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54D2D9-1366-4E04-8E7D-BF5C527A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781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2231D"/>
                </a:solidFill>
                <a:latin typeface="BM Dohyeon"/>
                <a:ea typeface="BM Dohyeon"/>
                <a:cs typeface="BM Dohyeon"/>
              </a:defRPr>
            </a:pPr>
            <a:r>
              <a:rPr sz="4050" b="1">
                <a:solidFill>
                  <a:srgbClr val="12231D"/>
                </a:solidFill>
                <a:latin typeface="BM Dohyeon"/>
                <a:ea typeface="BM Dohyeon"/>
                <a:cs typeface="BM Dohyeon"/>
              </a:rPr>
              <a:t>재난안전 영상도</a:t>
            </a:r>
          </a:p>
          <a:p xmlns:a="http://schemas.openxmlformats.org/drawingml/2006/main">
            <a:pPr algn="l">
              <a:defRPr sz="4050" b="1">
                <a:solidFill>
                  <a:srgbClr val="12231D"/>
                </a:solidFill>
                <a:latin typeface="BM Dohyeon"/>
                <a:ea typeface="BM Dohyeon"/>
                <a:cs typeface="BM Dohyeon"/>
              </a:defRPr>
            </a:pPr>
            <a:r>
              <a:rPr sz="4050" b="1">
                <a:solidFill>
                  <a:srgbClr val="12231D"/>
                </a:solidFill>
                <a:latin typeface="BM Dohyeon"/>
                <a:ea typeface="BM Dohyeon"/>
                <a:cs typeface="BM Dohyeon"/>
              </a:rPr>
              <a:t>느린 학습자의 방식에 맞게</a:t>
            </a:r>
          </a:p>
          <a:p xmlns:a="http://schemas.openxmlformats.org/drawingml/2006/main">
            <a:pPr algn="l">
              <a:defRPr sz="4050" b="1">
                <a:solidFill>
                  <a:srgbClr val="12231D"/>
                </a:solidFill>
                <a:latin typeface="BM Dohyeon"/>
                <a:ea typeface="BM Dohyeon"/>
                <a:cs typeface="BM Dohyeon"/>
              </a:defRPr>
            </a:pPr>
            <a:r>
              <a:rPr sz="4050" b="1">
                <a:solidFill>
                  <a:srgbClr val="12231D"/>
                </a:solidFill>
                <a:latin typeface="BM Dohyeon"/>
                <a:ea typeface="BM Dohyeon"/>
                <a:cs typeface="BM Dohyeon"/>
              </a:rPr>
              <a:t>바뀌어야 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AC8BE0-AC39-482D-BAC2-A9114DED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D6254E-5C4F-4E89-B0C0-6D8030CF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81350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빠른 영상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2B989-DF44-44C0-B5AE-89A3020A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05150"/>
            <a:ext cx="38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A12269-11ED-4F94-BF15-A7752BBE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4800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BEF"/>
          </a:solidFill>
          <a:ln xmlns:a="http://schemas.openxmlformats.org/drawingml/2006/main" w="9525">
            <a:solidFill>
              <a:srgbClr val="D8E6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E99F4-78CD-4B9C-8823-FEC10D1F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81350"/>
            <a:ext cx="3581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짧은 장면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59A1A1-9425-429E-B647-9D46A115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CE4020-6637-4F9D-AB1B-5444F327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29050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어려운 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6D8B61-14BB-41C1-A11C-0E9F0EEE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52850"/>
            <a:ext cx="38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455A13-C6AA-44BA-8430-2EA2CC9C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9570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4"/>
          </a:solidFill>
          <a:ln xmlns:a="http://schemas.openxmlformats.org/drawingml/2006/main" w="9525">
            <a:solidFill>
              <a:srgbClr val="D8E6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5A594C-5914-433C-AD89-7F5EA164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829050"/>
            <a:ext cx="3581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쉬운 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7794CE-FFFA-495A-B053-99CFF256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4340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E793D1-E941-4C0D-8AD1-F8738A83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76750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막연한 지침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E1A50F-C3D5-4DBC-BB26-F91C8DE5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00550"/>
            <a:ext cx="38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BD8CC4-6E54-4428-A396-9DA291D4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34340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BEF"/>
          </a:solidFill>
          <a:ln xmlns:a="http://schemas.openxmlformats.org/drawingml/2006/main" w="9525">
            <a:solidFill>
              <a:srgbClr val="D8E6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B8CDA0-2284-4612-8E63-1F6B3E44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476750"/>
            <a:ext cx="3581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행동 카드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96CB30-320A-42A9-81BB-F1EFCD91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9110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47B84C-B4DF-44B6-99DE-ECA1ACC9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24450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한 번 시청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76B1D8-E271-458C-846A-EFC64245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48250"/>
            <a:ext cx="38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5FCF3D-6FCD-49CF-B56E-0DBBE984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99110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4"/>
          </a:solidFill>
          <a:ln xmlns:a="http://schemas.openxmlformats.org/drawingml/2006/main" w="9525">
            <a:solidFill>
              <a:srgbClr val="D8E6D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3B4B13-1B9A-4D78-9A5C-285ED580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124450"/>
            <a:ext cx="3581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반복 연습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9D025F-B917-4915-BDD0-121BB711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53100"/>
            <a:ext cx="857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느린 학습자를 위한 기술은</a:t>
            </a:r>
          </a:p>
          <a:p xmlns:a="http://schemas.openxmlformats.org/drawingml/2006/main">
            <a:pPr algn="l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속도를 늦추는 것에서 끝나지 않습니다.</a:t>
            </a:r>
          </a:p>
          <a:p xmlns:a="http://schemas.openxmlformats.org/drawingml/2006/main">
            <a:pPr algn="l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이해하고 행동으로 옮길 수 있게 구조를 바꾸는 일입니다.</a:t>
            </a:r>
          </a:p>
        </p:txBody>
      </p:sp>
    </p:spTree>
    <p:extLst>
      <p:ext uri="{BB962C8B-B14F-4D97-AF65-F5344CB8AC3E}">
        <p14:creationId xmlns:p14="http://schemas.microsoft.com/office/powerpoint/2010/main" val="19081504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8ED118-FCD7-4175-8A6E-FBD56B2A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0CAF5-B6F8-4B4F-BDDC-26530035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18D55-D9C7-4B27-8278-EFDA3718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530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E4E6C1-81C8-4813-90F0-1D8A6A5B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8102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F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CC92B-99BC-4BED-BA40-2C370C13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14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E0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008565-6461-4C44-AD3A-C98875A9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"/>
            <a:ext cx="609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출처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513960-78A0-447B-941D-11718D8B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7810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2231D"/>
                </a:solidFill>
                <a:latin typeface="BM Dohyeon"/>
                <a:ea typeface="BM Dohyeon"/>
                <a:cs typeface="BM Dohyeon"/>
              </a:defRPr>
            </a:pPr>
            <a:r>
              <a:rPr sz="4200" b="1">
                <a:solidFill>
                  <a:srgbClr val="12231D"/>
                </a:solidFill>
                <a:latin typeface="BM Dohyeon"/>
                <a:ea typeface="BM Dohyeon"/>
                <a:cs typeface="BM Dohyeon"/>
              </a:rPr>
              <a:t>실제 공개 자료를 기준으로</a:t>
            </a:r>
          </a:p>
          <a:p xmlns:a="http://schemas.openxmlformats.org/drawingml/2006/main">
            <a:pPr algn="l">
              <a:defRPr sz="4200" b="1">
                <a:solidFill>
                  <a:srgbClr val="12231D"/>
                </a:solidFill>
                <a:latin typeface="BM Dohyeon"/>
                <a:ea typeface="BM Dohyeon"/>
                <a:cs typeface="BM Dohyeon"/>
              </a:defRPr>
            </a:pPr>
            <a:r>
              <a:rPr sz="4200" b="1">
                <a:solidFill>
                  <a:srgbClr val="12231D"/>
                </a:solidFill>
                <a:latin typeface="BM Dohyeon"/>
                <a:ea typeface="BM Dohyeon"/>
                <a:cs typeface="BM Dohyeon"/>
              </a:rPr>
              <a:t>정리했습니다.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BE0B89-F279-480E-9734-66514FA8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73AA08-CE18-4797-A10F-C3218112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95600"/>
            <a:ext cx="891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교육부·대한민국 정책브리핑: 2026 학생맞춤통합지원 체계 구축계획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388E3B-EFB7-4C29-B783-732AA4DD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BEF"/>
          </a:solidFill>
          <a:ln xmlns:a="http://schemas.openxmlformats.org/drawingml/2006/main" w="9525">
            <a:solidFill>
              <a:srgbClr val="D8E6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AC9D8F-550C-4570-925A-C7F6277B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90900"/>
            <a:ext cx="891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서울특별시교육청: 2026 서울교육 주요업무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C3E4CA-2EFD-4D7F-BC28-3E3293C8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97A9E-7F4C-4BAC-AC91-94CFB91F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86200"/>
            <a:ext cx="891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경기도교육청: 2026 기초학력 책임지도 강화 자료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54A596-4B4D-46B0-924A-C101ABD1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BEF"/>
          </a:solidFill>
          <a:ln xmlns:a="http://schemas.openxmlformats.org/drawingml/2006/main" w="9525">
            <a:solidFill>
              <a:srgbClr val="D8E6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97A7CB-6844-407E-9F37-8C823CD2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81500"/>
            <a:ext cx="891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부산광역시교육청: 2026 주요업무계획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532F96-4381-4867-B1C4-B931C64E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841B26-BA95-4F82-8C77-922D1192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76800"/>
            <a:ext cx="891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서울시: 경계선지능인 평생교육 지원센터·조례 자료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469B3A-3DF6-4F7F-B340-4B7E695A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BEF"/>
          </a:solidFill>
          <a:ln xmlns:a="http://schemas.openxmlformats.org/drawingml/2006/main" w="9525">
            <a:solidFill>
              <a:srgbClr val="D8E6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0BCA60-D141-445E-9BD5-9A7CA78A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72100"/>
            <a:ext cx="891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231D"/>
                </a:solidFill>
                <a:latin typeface="Apple SD Gothic Neo"/>
                <a:ea typeface="Apple SD Gothic Neo"/>
                <a:cs typeface="Apple SD Gothic Neo"/>
              </a:rPr>
              <a:t>W3C COGA: 인지·학습장애 접근성 지침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49AEE3-1239-459E-92D1-9FB749D1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990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71837B"/>
                </a:solidFill>
                <a:latin typeface="Apple SD Gothic Neo"/>
                <a:ea typeface="Apple SD Gothic Neo"/>
                <a:cs typeface="Apple SD Gothic Neo"/>
              </a:rPr>
              <a:t>세부 URL은 source-notes.txt에 별도 정리</a:t>
            </a:r>
          </a:p>
        </p:txBody>
      </p:sp>
    </p:spTree>
    <p:extLst>
      <p:ext uri="{BB962C8B-B14F-4D97-AF65-F5344CB8AC3E}">
        <p14:creationId xmlns:p14="http://schemas.microsoft.com/office/powerpoint/2010/main" val="13809150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2026-05-21T15:01:14.6300000Z</dcterms:created>
  <dcterms:modified xsi:type="dcterms:W3CDTF">2026-05-21T15:01:14.6300000Z</dcterms:modified>
</coreProperties>
</file>